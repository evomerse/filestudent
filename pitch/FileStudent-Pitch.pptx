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0"/>
            <a:ext cx="12191695" cy="54864"/>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0"/>
            <a:ext cx="10515600" cy="1463040"/>
          </a:xfrm>
          <a:prstGeom prst="rect">
            <a:avLst/>
          </a:prstGeom>
          <a:noFill/>
        </p:spPr>
        <p:txBody>
          <a:bodyPr wrap="none" anchor="t" lIns="0" rIns="0" tIns="0" bIns="0">
            <a:spAutoFit/>
          </a:bodyPr>
          <a:lstStyle/>
          <a:p>
            <a:pPr algn="l">
              <a:lnSpc>
                <a:spcPct val="115000"/>
              </a:lnSpc>
            </a:pPr>
            <a:r>
              <a:rPr sz="6400" b="1" i="0">
                <a:solidFill>
                  <a:srgbClr val="FFFFFF"/>
                </a:solidFill>
                <a:latin typeface="Georgia"/>
              </a:rPr>
              <a:t>FileStudent</a:t>
            </a:r>
          </a:p>
        </p:txBody>
      </p:sp>
      <p:sp>
        <p:nvSpPr>
          <p:cNvPr id="5" name="TextBox 4"/>
          <p:cNvSpPr txBox="1"/>
          <p:nvPr/>
        </p:nvSpPr>
        <p:spPr>
          <a:xfrm>
            <a:off x="868680" y="3429000"/>
            <a:ext cx="9144000" cy="914400"/>
          </a:xfrm>
          <a:prstGeom prst="rect">
            <a:avLst/>
          </a:prstGeom>
          <a:noFill/>
        </p:spPr>
        <p:txBody>
          <a:bodyPr wrap="square" anchor="t" lIns="0" rIns="0" tIns="0" bIns="0">
            <a:spAutoFit/>
          </a:bodyPr>
          <a:lstStyle/>
          <a:p>
            <a:pPr algn="l">
              <a:lnSpc>
                <a:spcPct val="115000"/>
              </a:lnSpc>
            </a:pPr>
            <a:r>
              <a:rPr sz="2000" b="0" i="0">
                <a:solidFill>
                  <a:srgbClr val="C7D6D8"/>
                </a:solidFill>
                <a:latin typeface="Calibri"/>
              </a:rPr>
              <a:t>Une boite a outils desktop pour etudiants, sans upload et sans abonnement.</a:t>
            </a:r>
          </a:p>
        </p:txBody>
      </p:sp>
      <p:sp>
        <p:nvSpPr>
          <p:cNvPr id="6" name="TextBox 5"/>
          <p:cNvSpPr txBox="1"/>
          <p:nvPr/>
        </p:nvSpPr>
        <p:spPr>
          <a:xfrm>
            <a:off x="868680" y="5989320"/>
            <a:ext cx="9144000" cy="457200"/>
          </a:xfrm>
          <a:prstGeom prst="rect">
            <a:avLst/>
          </a:prstGeom>
          <a:noFill/>
        </p:spPr>
        <p:txBody>
          <a:bodyPr wrap="none" anchor="t" lIns="0" rIns="0" tIns="0" bIns="0">
            <a:spAutoFit/>
          </a:bodyPr>
          <a:lstStyle/>
          <a:p>
            <a:pPr algn="l">
              <a:lnSpc>
                <a:spcPct val="115000"/>
              </a:lnSpc>
            </a:pPr>
            <a:r>
              <a:rPr sz="1300" b="0" i="0">
                <a:solidFill>
                  <a:srgbClr val="8FA3A6"/>
                </a:solidFill>
                <a:latin typeface="Consolas"/>
              </a:rPr>
              <a:t>Equipe Logiciel : Nathan, Julien   -   Soutenance : vendredi 18 septembre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2377440" cy="36576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2377440" cy="365760"/>
          </a:xfrm>
          <a:prstGeom prst="rect">
            <a:avLst/>
          </a:prstGeom>
          <a:noFill/>
        </p:spPr>
        <p:txBody>
          <a:bodyPr wrap="none" anchor="ctr" lIns="0" rIns="0" tIns="0" bIns="0">
            <a:spAutoFit/>
          </a:bodyPr>
          <a:lstStyle/>
          <a:p>
            <a:pPr algn="ctr">
              <a:lnSpc>
                <a:spcPct val="115000"/>
              </a:lnSpc>
            </a:pPr>
            <a:r>
              <a:rPr sz="1200" b="1" i="0">
                <a:solidFill>
                  <a:srgbClr val="1F6F78"/>
                </a:solidFill>
                <a:latin typeface="Consolas"/>
              </a:rPr>
              <a:t>SITUATION</a:t>
            </a:r>
          </a:p>
        </p:txBody>
      </p:sp>
      <p:sp>
        <p:nvSpPr>
          <p:cNvPr id="5" name="TextBox 4"/>
          <p:cNvSpPr txBox="1"/>
          <p:nvPr/>
        </p:nvSpPr>
        <p:spPr>
          <a:xfrm>
            <a:off x="731520" y="1234440"/>
            <a:ext cx="10515600" cy="1554480"/>
          </a:xfrm>
          <a:prstGeom prst="rect">
            <a:avLst/>
          </a:prstGeom>
          <a:noFill/>
        </p:spPr>
        <p:txBody>
          <a:bodyPr wrap="square" anchor="t" lIns="0" rIns="0" tIns="0" bIns="0">
            <a:spAutoFit/>
          </a:bodyPr>
          <a:lstStyle/>
          <a:p>
            <a:pPr algn="l">
              <a:lnSpc>
                <a:spcPct val="105000"/>
              </a:lnSpc>
            </a:pPr>
            <a:r>
              <a:rPr sz="3600" b="1" i="0">
                <a:solidFill>
                  <a:srgbClr val="1A2233"/>
                </a:solidFill>
                <a:latin typeface="Georgia"/>
              </a:rPr>
              <a:t>Les etudiants jonglent avec plusieurs sites</a:t>
            </a:r>
          </a:p>
          <a:p>
            <a:pPr algn="l">
              <a:lnSpc>
                <a:spcPct val="105000"/>
              </a:lnSpc>
            </a:pPr>
            <a:r>
              <a:rPr sz="3600" b="1" i="0">
                <a:solidFill>
                  <a:srgbClr val="1A2233"/>
                </a:solidFill>
                <a:latin typeface="Georgia"/>
              </a:rPr>
              <a:t>pour traiter leurs fichiers</a:t>
            </a:r>
          </a:p>
        </p:txBody>
      </p:sp>
      <p:sp>
        <p:nvSpPr>
          <p:cNvPr id="6" name="Rectangle 5"/>
          <p:cNvSpPr/>
          <p:nvPr/>
        </p:nvSpPr>
        <p:spPr>
          <a:xfrm>
            <a:off x="731520" y="3200400"/>
            <a:ext cx="128016" cy="502920"/>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00400"/>
            <a:ext cx="8686800" cy="548640"/>
          </a:xfrm>
          <a:prstGeom prst="rect">
            <a:avLst/>
          </a:prstGeom>
          <a:noFill/>
        </p:spPr>
        <p:txBody>
          <a:bodyPr wrap="square" anchor="t" lIns="0" rIns="0" tIns="0" bIns="0">
            <a:spAutoFit/>
          </a:bodyPr>
          <a:lstStyle/>
          <a:p>
            <a:pPr algn="l">
              <a:lnSpc>
                <a:spcPct val="115000"/>
              </a:lnSpc>
            </a:pPr>
            <a:r>
              <a:rPr sz="1900" b="0" i="0">
                <a:solidFill>
                  <a:srgbClr val="1A2233"/>
                </a:solidFill>
                <a:latin typeface="Calibri"/>
              </a:rPr>
              <a:t>Un site pour convertir un fichier en PDF</a:t>
            </a:r>
          </a:p>
        </p:txBody>
      </p:sp>
      <p:sp>
        <p:nvSpPr>
          <p:cNvPr id="8" name="Rectangle 7"/>
          <p:cNvSpPr/>
          <p:nvPr/>
        </p:nvSpPr>
        <p:spPr>
          <a:xfrm>
            <a:off x="731520" y="3977640"/>
            <a:ext cx="128016" cy="502920"/>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977640"/>
            <a:ext cx="8686800" cy="548640"/>
          </a:xfrm>
          <a:prstGeom prst="rect">
            <a:avLst/>
          </a:prstGeom>
          <a:noFill/>
        </p:spPr>
        <p:txBody>
          <a:bodyPr wrap="square" anchor="t" lIns="0" rIns="0" tIns="0" bIns="0">
            <a:spAutoFit/>
          </a:bodyPr>
          <a:lstStyle/>
          <a:p>
            <a:pPr algn="l">
              <a:lnSpc>
                <a:spcPct val="115000"/>
              </a:lnSpc>
            </a:pPr>
            <a:r>
              <a:rPr sz="1900" b="0" i="0">
                <a:solidFill>
                  <a:srgbClr val="1A2233"/>
                </a:solidFill>
                <a:latin typeface="Calibri"/>
              </a:rPr>
              <a:t>Un autre pour compresser une image avant de la rendre</a:t>
            </a:r>
          </a:p>
        </p:txBody>
      </p:sp>
      <p:sp>
        <p:nvSpPr>
          <p:cNvPr id="10" name="Rectangle 9"/>
          <p:cNvSpPr/>
          <p:nvPr/>
        </p:nvSpPr>
        <p:spPr>
          <a:xfrm>
            <a:off x="731520" y="4754880"/>
            <a:ext cx="128016" cy="502920"/>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754880"/>
            <a:ext cx="8686800" cy="548640"/>
          </a:xfrm>
          <a:prstGeom prst="rect">
            <a:avLst/>
          </a:prstGeom>
          <a:noFill/>
        </p:spPr>
        <p:txBody>
          <a:bodyPr wrap="square" anchor="t" lIns="0" rIns="0" tIns="0" bIns="0">
            <a:spAutoFit/>
          </a:bodyPr>
          <a:lstStyle/>
          <a:p>
            <a:pPr algn="l">
              <a:lnSpc>
                <a:spcPct val="115000"/>
              </a:lnSpc>
            </a:pPr>
            <a:r>
              <a:rPr sz="1900" b="0" i="0">
                <a:solidFill>
                  <a:srgbClr val="1A2233"/>
                </a:solidFill>
                <a:latin typeface="Calibri"/>
              </a:rPr>
              <a:t>Un compte a creer a chaque nouveau service</a:t>
            </a:r>
          </a:p>
        </p:txBody>
      </p:sp>
      <p:sp>
        <p:nvSpPr>
          <p:cNvPr id="12" name="TextBox 11"/>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13" name="TextBox 12"/>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1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2377440" cy="36576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2377440" cy="365760"/>
          </a:xfrm>
          <a:prstGeom prst="rect">
            <a:avLst/>
          </a:prstGeom>
          <a:noFill/>
        </p:spPr>
        <p:txBody>
          <a:bodyPr wrap="none" anchor="ctr" lIns="0" rIns="0" tIns="0" bIns="0">
            <a:spAutoFit/>
          </a:bodyPr>
          <a:lstStyle/>
          <a:p>
            <a:pPr algn="ctr">
              <a:lnSpc>
                <a:spcPct val="115000"/>
              </a:lnSpc>
            </a:pPr>
            <a:r>
              <a:rPr sz="1200" b="1" i="0">
                <a:solidFill>
                  <a:srgbClr val="1F6F78"/>
                </a:solidFill>
                <a:latin typeface="Consolas"/>
              </a:rPr>
              <a:t>PROBLEME</a:t>
            </a:r>
          </a:p>
        </p:txBody>
      </p:sp>
      <p:sp>
        <p:nvSpPr>
          <p:cNvPr id="5" name="Rounded Rectangle 4"/>
          <p:cNvSpPr/>
          <p:nvPr/>
        </p:nvSpPr>
        <p:spPr>
          <a:xfrm>
            <a:off x="731520" y="1463040"/>
            <a:ext cx="10698480" cy="3108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109728" cy="3108960"/>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783080"/>
            <a:ext cx="9692640" cy="2286000"/>
          </a:xfrm>
          <a:prstGeom prst="rect">
            <a:avLst/>
          </a:prstGeom>
          <a:noFill/>
        </p:spPr>
        <p:txBody>
          <a:bodyPr wrap="square" anchor="t" lIns="0" rIns="0" tIns="0" bIns="0">
            <a:spAutoFit/>
          </a:bodyPr>
          <a:lstStyle/>
          <a:p>
            <a:pPr algn="l">
              <a:lnSpc>
                <a:spcPct val="120000"/>
              </a:lnSpc>
            </a:pPr>
            <a:r>
              <a:rPr sz="2700" b="0" i="1">
                <a:solidFill>
                  <a:srgbClr val="1A2233"/>
                </a:solidFill>
                <a:latin typeface="Georgia"/>
              </a:rPr>
              <a:t>« Comment permettre aux etudiants de traiter leurs</a:t>
            </a:r>
          </a:p>
          <a:p>
            <a:pPr algn="l">
              <a:lnSpc>
                <a:spcPct val="120000"/>
              </a:lnSpc>
            </a:pPr>
            <a:r>
              <a:rPr sz="2700" b="0" i="1">
                <a:solidFill>
                  <a:srgbClr val="1A2233"/>
                </a:solidFill>
                <a:latin typeface="Georgia"/>
              </a:rPr>
              <a:t>fichiers PDF et images sans dependre d'un service</a:t>
            </a:r>
          </a:p>
          <a:p>
            <a:pPr algn="l">
              <a:lnSpc>
                <a:spcPct val="120000"/>
              </a:lnSpc>
            </a:pPr>
            <a:r>
              <a:rPr sz="2700" b="0" i="1">
                <a:solidFill>
                  <a:srgbClr val="1A2233"/>
                </a:solidFill>
                <a:latin typeface="Georgia"/>
              </a:rPr>
              <a:t>en ligne payant, ni exposer leurs documents a des tiers ? »</a:t>
            </a:r>
          </a:p>
        </p:txBody>
      </p:sp>
      <p:sp>
        <p:nvSpPr>
          <p:cNvPr id="8" name="TextBox 7"/>
          <p:cNvSpPr txBox="1"/>
          <p:nvPr/>
        </p:nvSpPr>
        <p:spPr>
          <a:xfrm>
            <a:off x="731520" y="4892040"/>
            <a:ext cx="10058400" cy="914400"/>
          </a:xfrm>
          <a:prstGeom prst="rect">
            <a:avLst/>
          </a:prstGeom>
          <a:noFill/>
        </p:spPr>
        <p:txBody>
          <a:bodyPr wrap="square" anchor="t" lIns="0" rIns="0" tIns="0" bIns="0">
            <a:spAutoFit/>
          </a:bodyPr>
          <a:lstStyle/>
          <a:p>
            <a:pPr algn="l">
              <a:lnSpc>
                <a:spcPct val="115000"/>
              </a:lnSpc>
            </a:pPr>
            <a:r>
              <a:rPr sz="1600" b="0" i="0">
                <a:solidFill>
                  <a:srgbClr val="566072"/>
                </a:solidFill>
                <a:latin typeface="Calibri"/>
              </a:rPr>
              <a:t>Version gratuite plafonnee. Upload obligatoire sur un serveur externe. Aucun outil pour verifier l'origine d'un texte.</a:t>
            </a:r>
          </a:p>
        </p:txBody>
      </p:sp>
      <p:sp>
        <p:nvSpPr>
          <p:cNvPr id="9" name="TextBox 8"/>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10" name="TextBox 9"/>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2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2377440" cy="36576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2377440" cy="365760"/>
          </a:xfrm>
          <a:prstGeom prst="rect">
            <a:avLst/>
          </a:prstGeom>
          <a:noFill/>
        </p:spPr>
        <p:txBody>
          <a:bodyPr wrap="none" anchor="ctr" lIns="0" rIns="0" tIns="0" bIns="0">
            <a:spAutoFit/>
          </a:bodyPr>
          <a:lstStyle/>
          <a:p>
            <a:pPr algn="ctr">
              <a:lnSpc>
                <a:spcPct val="115000"/>
              </a:lnSpc>
            </a:pPr>
            <a:r>
              <a:rPr sz="1200" b="1" i="0">
                <a:solidFill>
                  <a:srgbClr val="1F6F78"/>
                </a:solidFill>
                <a:latin typeface="Consolas"/>
              </a:rPr>
              <a:t>ENJEU</a:t>
            </a:r>
          </a:p>
        </p:txBody>
      </p:sp>
      <p:sp>
        <p:nvSpPr>
          <p:cNvPr id="5" name="TextBox 4"/>
          <p:cNvSpPr txBox="1"/>
          <p:nvPr/>
        </p:nvSpPr>
        <p:spPr>
          <a:xfrm>
            <a:off x="731520" y="1234440"/>
            <a:ext cx="10515600" cy="1280160"/>
          </a:xfrm>
          <a:prstGeom prst="rect">
            <a:avLst/>
          </a:prstGeom>
          <a:noFill/>
        </p:spPr>
        <p:txBody>
          <a:bodyPr wrap="square" anchor="t" lIns="0" rIns="0" tIns="0" bIns="0">
            <a:spAutoFit/>
          </a:bodyPr>
          <a:lstStyle/>
          <a:p>
            <a:pPr algn="l">
              <a:lnSpc>
                <a:spcPct val="105000"/>
              </a:lnSpc>
            </a:pPr>
            <a:r>
              <a:rPr sz="3400" b="1" i="0">
                <a:solidFill>
                  <a:srgbClr val="1A2233"/>
                </a:solidFill>
                <a:latin typeface="Georgia"/>
              </a:rPr>
              <a:t>Des documents personnels et academiques,</a:t>
            </a:r>
          </a:p>
          <a:p>
            <a:pPr algn="l">
              <a:lnSpc>
                <a:spcPct val="105000"/>
              </a:lnSpc>
            </a:pPr>
            <a:r>
              <a:rPr sz="3400" b="1" i="0">
                <a:solidFill>
                  <a:srgbClr val="1A2233"/>
                </a:solidFill>
                <a:latin typeface="Georgia"/>
              </a:rPr>
              <a:t>pas anodins</a:t>
            </a:r>
          </a:p>
        </p:txBody>
      </p:sp>
      <p:sp>
        <p:nvSpPr>
          <p:cNvPr id="6" name="Rounded Rectangle 5"/>
          <p:cNvSpPr/>
          <p:nvPr/>
        </p:nvSpPr>
        <p:spPr>
          <a:xfrm>
            <a:off x="731520" y="3017520"/>
            <a:ext cx="2377440" cy="731520"/>
          </a:xfrm>
          <a:prstGeom prst="roundRect">
            <a:avLst>
              <a:gd name="adj" fmla="val 50000"/>
            </a:avLst>
          </a:prstGeom>
          <a:solidFill>
            <a:srgbClr val="FB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017520"/>
            <a:ext cx="2377440" cy="731520"/>
          </a:xfrm>
          <a:prstGeom prst="rect">
            <a:avLst/>
          </a:prstGeom>
          <a:noFill/>
        </p:spPr>
        <p:txBody>
          <a:bodyPr wrap="none" anchor="ctr" lIns="0" rIns="0" tIns="0" bIns="0">
            <a:spAutoFit/>
          </a:bodyPr>
          <a:lstStyle/>
          <a:p>
            <a:pPr algn="ctr">
              <a:lnSpc>
                <a:spcPct val="115000"/>
              </a:lnSpc>
            </a:pPr>
            <a:r>
              <a:rPr sz="1600" b="1" i="0">
                <a:solidFill>
                  <a:srgbClr val="E8622F"/>
                </a:solidFill>
                <a:latin typeface="Calibri"/>
              </a:rPr>
              <a:t>CV</a:t>
            </a:r>
          </a:p>
        </p:txBody>
      </p:sp>
      <p:sp>
        <p:nvSpPr>
          <p:cNvPr id="8" name="Rounded Rectangle 7"/>
          <p:cNvSpPr/>
          <p:nvPr/>
        </p:nvSpPr>
        <p:spPr>
          <a:xfrm>
            <a:off x="3337560" y="3017520"/>
            <a:ext cx="2377440" cy="731520"/>
          </a:xfrm>
          <a:prstGeom prst="roundRect">
            <a:avLst>
              <a:gd name="adj" fmla="val 50000"/>
            </a:avLst>
          </a:prstGeom>
          <a:solidFill>
            <a:srgbClr val="FB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3017520"/>
            <a:ext cx="2377440" cy="731520"/>
          </a:xfrm>
          <a:prstGeom prst="rect">
            <a:avLst/>
          </a:prstGeom>
          <a:noFill/>
        </p:spPr>
        <p:txBody>
          <a:bodyPr wrap="none" anchor="ctr" lIns="0" rIns="0" tIns="0" bIns="0">
            <a:spAutoFit/>
          </a:bodyPr>
          <a:lstStyle/>
          <a:p>
            <a:pPr algn="ctr">
              <a:lnSpc>
                <a:spcPct val="115000"/>
              </a:lnSpc>
            </a:pPr>
            <a:r>
              <a:rPr sz="1600" b="1" i="0">
                <a:solidFill>
                  <a:srgbClr val="E8622F"/>
                </a:solidFill>
                <a:latin typeface="Calibri"/>
              </a:rPr>
              <a:t>Memoires</a:t>
            </a:r>
          </a:p>
        </p:txBody>
      </p:sp>
      <p:sp>
        <p:nvSpPr>
          <p:cNvPr id="10" name="Rounded Rectangle 9"/>
          <p:cNvSpPr/>
          <p:nvPr/>
        </p:nvSpPr>
        <p:spPr>
          <a:xfrm>
            <a:off x="5943600" y="3017520"/>
            <a:ext cx="2377440" cy="731520"/>
          </a:xfrm>
          <a:prstGeom prst="roundRect">
            <a:avLst>
              <a:gd name="adj" fmla="val 50000"/>
            </a:avLst>
          </a:prstGeom>
          <a:solidFill>
            <a:srgbClr val="FB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0" y="3017520"/>
            <a:ext cx="2377440" cy="731520"/>
          </a:xfrm>
          <a:prstGeom prst="rect">
            <a:avLst/>
          </a:prstGeom>
          <a:noFill/>
        </p:spPr>
        <p:txBody>
          <a:bodyPr wrap="none" anchor="ctr" lIns="0" rIns="0" tIns="0" bIns="0">
            <a:spAutoFit/>
          </a:bodyPr>
          <a:lstStyle/>
          <a:p>
            <a:pPr algn="ctr">
              <a:lnSpc>
                <a:spcPct val="115000"/>
              </a:lnSpc>
            </a:pPr>
            <a:r>
              <a:rPr sz="1600" b="1" i="0">
                <a:solidFill>
                  <a:srgbClr val="E8622F"/>
                </a:solidFill>
                <a:latin typeface="Calibri"/>
              </a:rPr>
              <a:t>Devoirs notes</a:t>
            </a:r>
          </a:p>
        </p:txBody>
      </p:sp>
      <p:sp>
        <p:nvSpPr>
          <p:cNvPr id="12" name="Rounded Rectangle 11"/>
          <p:cNvSpPr/>
          <p:nvPr/>
        </p:nvSpPr>
        <p:spPr>
          <a:xfrm>
            <a:off x="8549640" y="3017520"/>
            <a:ext cx="2377440" cy="731520"/>
          </a:xfrm>
          <a:prstGeom prst="roundRect">
            <a:avLst>
              <a:gd name="adj" fmla="val 50000"/>
            </a:avLst>
          </a:prstGeom>
          <a:solidFill>
            <a:srgbClr val="FB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49640" y="3017520"/>
            <a:ext cx="2377440" cy="731520"/>
          </a:xfrm>
          <a:prstGeom prst="rect">
            <a:avLst/>
          </a:prstGeom>
          <a:noFill/>
        </p:spPr>
        <p:txBody>
          <a:bodyPr wrap="none" anchor="ctr" lIns="0" rIns="0" tIns="0" bIns="0">
            <a:spAutoFit/>
          </a:bodyPr>
          <a:lstStyle/>
          <a:p>
            <a:pPr algn="ctr">
              <a:lnSpc>
                <a:spcPct val="115000"/>
              </a:lnSpc>
            </a:pPr>
            <a:r>
              <a:rPr sz="1600" b="1" i="0">
                <a:solidFill>
                  <a:srgbClr val="E8622F"/>
                </a:solidFill>
                <a:latin typeface="Calibri"/>
              </a:rPr>
              <a:t>Copies d'examen</a:t>
            </a:r>
          </a:p>
        </p:txBody>
      </p:sp>
      <p:sp>
        <p:nvSpPr>
          <p:cNvPr id="14" name="TextBox 13"/>
          <p:cNvSpPr txBox="1"/>
          <p:nvPr/>
        </p:nvSpPr>
        <p:spPr>
          <a:xfrm>
            <a:off x="731520" y="4206240"/>
            <a:ext cx="9601200" cy="1097280"/>
          </a:xfrm>
          <a:prstGeom prst="rect">
            <a:avLst/>
          </a:prstGeom>
          <a:noFill/>
        </p:spPr>
        <p:txBody>
          <a:bodyPr wrap="square" anchor="t" lIns="0" rIns="0" tIns="0" bIns="0">
            <a:spAutoFit/>
          </a:bodyPr>
          <a:lstStyle/>
          <a:p>
            <a:pPr algn="l">
              <a:lnSpc>
                <a:spcPct val="115000"/>
              </a:lnSpc>
            </a:pPr>
            <a:r>
              <a:rPr sz="1800" b="0" i="0">
                <a:solidFill>
                  <a:srgbClr val="566072"/>
                </a:solidFill>
                <a:latin typeface="Calibri"/>
              </a:rPr>
              <a:t>Payer un abonnement ou exposer ces fichiers pour une operation ponctuelle n'a pas de sens pour un usage etudiant.</a:t>
            </a:r>
          </a:p>
        </p:txBody>
      </p:sp>
      <p:sp>
        <p:nvSpPr>
          <p:cNvPr id="15" name="TextBox 14"/>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16" name="TextBox 15"/>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3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2377440" cy="36576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2377440" cy="365760"/>
          </a:xfrm>
          <a:prstGeom prst="rect">
            <a:avLst/>
          </a:prstGeom>
          <a:noFill/>
        </p:spPr>
        <p:txBody>
          <a:bodyPr wrap="none" anchor="ctr" lIns="0" rIns="0" tIns="0" bIns="0">
            <a:spAutoFit/>
          </a:bodyPr>
          <a:lstStyle/>
          <a:p>
            <a:pPr algn="ctr">
              <a:lnSpc>
                <a:spcPct val="115000"/>
              </a:lnSpc>
            </a:pPr>
            <a:r>
              <a:rPr sz="1200" b="1" i="0">
                <a:solidFill>
                  <a:srgbClr val="1F6F78"/>
                </a:solidFill>
                <a:latin typeface="Consolas"/>
              </a:rPr>
              <a:t>PERSONA</a:t>
            </a:r>
          </a:p>
        </p:txBody>
      </p:sp>
      <p:sp>
        <p:nvSpPr>
          <p:cNvPr id="5" name="TextBox 4"/>
          <p:cNvSpPr txBox="1"/>
          <p:nvPr/>
        </p:nvSpPr>
        <p:spPr>
          <a:xfrm>
            <a:off x="731520" y="1234440"/>
            <a:ext cx="9144000" cy="640080"/>
          </a:xfrm>
          <a:prstGeom prst="rect">
            <a:avLst/>
          </a:prstGeom>
          <a:noFill/>
        </p:spPr>
        <p:txBody>
          <a:bodyPr wrap="none" anchor="t" lIns="0" rIns="0" tIns="0" bIns="0">
            <a:spAutoFit/>
          </a:bodyPr>
          <a:lstStyle/>
          <a:p>
            <a:pPr algn="l">
              <a:lnSpc>
                <a:spcPct val="115000"/>
              </a:lnSpc>
            </a:pPr>
            <a:r>
              <a:rPr sz="2800" b="1" i="0">
                <a:solidFill>
                  <a:srgbClr val="1A2233"/>
                </a:solidFill>
                <a:latin typeface="Georgia"/>
              </a:rPr>
              <a:t>On ne concoit pas pour tout le monde</a:t>
            </a:r>
          </a:p>
        </p:txBody>
      </p:sp>
      <p:sp>
        <p:nvSpPr>
          <p:cNvPr id="6" name="Rounded Rectangle 5"/>
          <p:cNvSpPr/>
          <p:nvPr/>
        </p:nvSpPr>
        <p:spPr>
          <a:xfrm>
            <a:off x="731520" y="2148840"/>
            <a:ext cx="3502152" cy="1828800"/>
          </a:xfrm>
          <a:prstGeom prst="roundRect">
            <a:avLst>
              <a:gd name="adj" fmla="val 6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77440"/>
            <a:ext cx="2953512" cy="365760"/>
          </a:xfrm>
          <a:prstGeom prst="rect">
            <a:avLst/>
          </a:prstGeom>
          <a:noFill/>
        </p:spPr>
        <p:txBody>
          <a:bodyPr wrap="none" anchor="t" lIns="0" rIns="0" tIns="0" bIns="0">
            <a:spAutoFit/>
          </a:bodyPr>
          <a:lstStyle/>
          <a:p>
            <a:pPr algn="l">
              <a:lnSpc>
                <a:spcPct val="115000"/>
              </a:lnSpc>
            </a:pPr>
            <a:r>
              <a:rPr sz="1300" b="1" i="0">
                <a:solidFill>
                  <a:srgbClr val="1F6F78"/>
                </a:solidFill>
                <a:latin typeface="Consolas"/>
              </a:rPr>
              <a:t>QUI</a:t>
            </a:r>
          </a:p>
        </p:txBody>
      </p:sp>
      <p:sp>
        <p:nvSpPr>
          <p:cNvPr id="8" name="TextBox 7"/>
          <p:cNvSpPr txBox="1"/>
          <p:nvPr/>
        </p:nvSpPr>
        <p:spPr>
          <a:xfrm>
            <a:off x="1005840" y="2788920"/>
            <a:ext cx="2953512" cy="1051560"/>
          </a:xfrm>
          <a:prstGeom prst="rect">
            <a:avLst/>
          </a:prstGeom>
          <a:noFill/>
        </p:spPr>
        <p:txBody>
          <a:bodyPr wrap="square" anchor="t" lIns="0" rIns="0" tIns="0" bIns="0">
            <a:spAutoFit/>
          </a:bodyPr>
          <a:lstStyle/>
          <a:p>
            <a:pPr algn="l">
              <a:lnSpc>
                <a:spcPct val="115000"/>
              </a:lnSpc>
            </a:pPr>
            <a:r>
              <a:rPr sz="1500" b="0" i="0">
                <a:solidFill>
                  <a:srgbClr val="1A2233"/>
                </a:solidFill>
                <a:latin typeface="Calibri"/>
              </a:rPr>
              <a:t>Etudiant, toutes filieres, sous Linux ou Windows</a:t>
            </a:r>
          </a:p>
        </p:txBody>
      </p:sp>
      <p:sp>
        <p:nvSpPr>
          <p:cNvPr id="9" name="Rounded Rectangle 8"/>
          <p:cNvSpPr/>
          <p:nvPr/>
        </p:nvSpPr>
        <p:spPr>
          <a:xfrm>
            <a:off x="4370832" y="2148840"/>
            <a:ext cx="3502152" cy="1828800"/>
          </a:xfrm>
          <a:prstGeom prst="roundRect">
            <a:avLst>
              <a:gd name="adj" fmla="val 6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5152" y="2377440"/>
            <a:ext cx="2953512" cy="365760"/>
          </a:xfrm>
          <a:prstGeom prst="rect">
            <a:avLst/>
          </a:prstGeom>
          <a:noFill/>
        </p:spPr>
        <p:txBody>
          <a:bodyPr wrap="none" anchor="t" lIns="0" rIns="0" tIns="0" bIns="0">
            <a:spAutoFit/>
          </a:bodyPr>
          <a:lstStyle/>
          <a:p>
            <a:pPr algn="l">
              <a:lnSpc>
                <a:spcPct val="115000"/>
              </a:lnSpc>
            </a:pPr>
            <a:r>
              <a:rPr sz="1300" b="1" i="0">
                <a:solidFill>
                  <a:srgbClr val="1F6F78"/>
                </a:solidFill>
                <a:latin typeface="Consolas"/>
              </a:rPr>
              <a:t>OBJECTIF</a:t>
            </a:r>
          </a:p>
        </p:txBody>
      </p:sp>
      <p:sp>
        <p:nvSpPr>
          <p:cNvPr id="11" name="TextBox 10"/>
          <p:cNvSpPr txBox="1"/>
          <p:nvPr/>
        </p:nvSpPr>
        <p:spPr>
          <a:xfrm>
            <a:off x="4645152" y="2788920"/>
            <a:ext cx="2953512" cy="1051560"/>
          </a:xfrm>
          <a:prstGeom prst="rect">
            <a:avLst/>
          </a:prstGeom>
          <a:noFill/>
        </p:spPr>
        <p:txBody>
          <a:bodyPr wrap="square" anchor="t" lIns="0" rIns="0" tIns="0" bIns="0">
            <a:spAutoFit/>
          </a:bodyPr>
          <a:lstStyle/>
          <a:p>
            <a:pPr algn="l">
              <a:lnSpc>
                <a:spcPct val="115000"/>
              </a:lnSpc>
            </a:pPr>
            <a:r>
              <a:rPr sz="1500" b="0" i="0">
                <a:solidFill>
                  <a:srgbClr val="1A2233"/>
                </a:solidFill>
                <a:latin typeface="Calibri"/>
              </a:rPr>
              <a:t>Traiter rapidement ses fichiers PDF et images pour ses cours</a:t>
            </a:r>
          </a:p>
        </p:txBody>
      </p:sp>
      <p:sp>
        <p:nvSpPr>
          <p:cNvPr id="12" name="Rounded Rectangle 11"/>
          <p:cNvSpPr/>
          <p:nvPr/>
        </p:nvSpPr>
        <p:spPr>
          <a:xfrm>
            <a:off x="8010144" y="2148840"/>
            <a:ext cx="3502152" cy="1828800"/>
          </a:xfrm>
          <a:prstGeom prst="roundRect">
            <a:avLst>
              <a:gd name="adj" fmla="val 6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4464" y="2377440"/>
            <a:ext cx="2953512" cy="365760"/>
          </a:xfrm>
          <a:prstGeom prst="rect">
            <a:avLst/>
          </a:prstGeom>
          <a:noFill/>
        </p:spPr>
        <p:txBody>
          <a:bodyPr wrap="none" anchor="t" lIns="0" rIns="0" tIns="0" bIns="0">
            <a:spAutoFit/>
          </a:bodyPr>
          <a:lstStyle/>
          <a:p>
            <a:pPr algn="l">
              <a:lnSpc>
                <a:spcPct val="115000"/>
              </a:lnSpc>
            </a:pPr>
            <a:r>
              <a:rPr sz="1300" b="1" i="0">
                <a:solidFill>
                  <a:srgbClr val="1F6F78"/>
                </a:solidFill>
                <a:latin typeface="Consolas"/>
              </a:rPr>
              <a:t>FREIN</a:t>
            </a:r>
          </a:p>
        </p:txBody>
      </p:sp>
      <p:sp>
        <p:nvSpPr>
          <p:cNvPr id="14" name="TextBox 13"/>
          <p:cNvSpPr txBox="1"/>
          <p:nvPr/>
        </p:nvSpPr>
        <p:spPr>
          <a:xfrm>
            <a:off x="8284464" y="2788920"/>
            <a:ext cx="2953512" cy="1051560"/>
          </a:xfrm>
          <a:prstGeom prst="rect">
            <a:avLst/>
          </a:prstGeom>
          <a:noFill/>
        </p:spPr>
        <p:txBody>
          <a:bodyPr wrap="square" anchor="t" lIns="0" rIns="0" tIns="0" bIns="0">
            <a:spAutoFit/>
          </a:bodyPr>
          <a:lstStyle/>
          <a:p>
            <a:pPr algn="l">
              <a:lnSpc>
                <a:spcPct val="115000"/>
              </a:lnSpc>
            </a:pPr>
            <a:r>
              <a:rPr sz="1500" b="0" i="0">
                <a:solidFill>
                  <a:srgbClr val="1A2233"/>
                </a:solidFill>
                <a:latin typeface="Calibri"/>
              </a:rPr>
              <a:t>Les outils en ligne sont payants au-dela d'un usage limite et exigent d'envoyer ses fichiers a un tiers</a:t>
            </a:r>
          </a:p>
        </p:txBody>
      </p:sp>
      <p:sp>
        <p:nvSpPr>
          <p:cNvPr id="15" name="Rectangle 14"/>
          <p:cNvSpPr/>
          <p:nvPr/>
        </p:nvSpPr>
        <p:spPr>
          <a:xfrm>
            <a:off x="731520" y="4343400"/>
            <a:ext cx="91440" cy="1508760"/>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389120"/>
            <a:ext cx="9875520" cy="1463040"/>
          </a:xfrm>
          <a:prstGeom prst="rect">
            <a:avLst/>
          </a:prstGeom>
          <a:noFill/>
        </p:spPr>
        <p:txBody>
          <a:bodyPr wrap="square" anchor="t" lIns="0" rIns="0" tIns="0" bIns="0">
            <a:spAutoFit/>
          </a:bodyPr>
          <a:lstStyle/>
          <a:p>
            <a:pPr algn="l">
              <a:lnSpc>
                <a:spcPct val="130000"/>
              </a:lnSpc>
            </a:pPr>
            <a:r>
              <a:rPr sz="1500" b="0" i="1">
                <a:solidFill>
                  <a:srgbClr val="1A2233"/>
                </a:solidFill>
                <a:latin typeface="Calibri"/>
              </a:rPr>
              <a:t>Notre etudiant veut traiter rapidement ses fichiers PDF et images pour ses cours, mais les services en ligne existants sont payants au-dela d'un usage basique et l'obligent a deposer ses documents sur un serveur externe. Il a donc besoin d'un outil local et gratuit qui centralise ces traitements.</a:t>
            </a:r>
          </a:p>
        </p:txBody>
      </p:sp>
      <p:sp>
        <p:nvSpPr>
          <p:cNvPr id="17" name="TextBox 16"/>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18" name="TextBox 17"/>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4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2377440" cy="36576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2377440" cy="365760"/>
          </a:xfrm>
          <a:prstGeom prst="rect">
            <a:avLst/>
          </a:prstGeom>
          <a:noFill/>
        </p:spPr>
        <p:txBody>
          <a:bodyPr wrap="none" anchor="ctr" lIns="0" rIns="0" tIns="0" bIns="0">
            <a:spAutoFit/>
          </a:bodyPr>
          <a:lstStyle/>
          <a:p>
            <a:pPr algn="ctr">
              <a:lnSpc>
                <a:spcPct val="115000"/>
              </a:lnSpc>
            </a:pPr>
            <a:r>
              <a:rPr sz="1200" b="1" i="0">
                <a:solidFill>
                  <a:srgbClr val="1F6F78"/>
                </a:solidFill>
                <a:latin typeface="Consolas"/>
              </a:rPr>
              <a:t>SOLUTIONS EXPLOREES</a:t>
            </a:r>
          </a:p>
        </p:txBody>
      </p:sp>
      <p:sp>
        <p:nvSpPr>
          <p:cNvPr id="5" name="TextBox 4"/>
          <p:cNvSpPr txBox="1"/>
          <p:nvPr/>
        </p:nvSpPr>
        <p:spPr>
          <a:xfrm>
            <a:off x="731520" y="1234440"/>
            <a:ext cx="9601200" cy="640080"/>
          </a:xfrm>
          <a:prstGeom prst="rect">
            <a:avLst/>
          </a:prstGeom>
          <a:noFill/>
        </p:spPr>
        <p:txBody>
          <a:bodyPr wrap="none" anchor="t" lIns="0" rIns="0" tIns="0" bIns="0">
            <a:spAutoFit/>
          </a:bodyPr>
          <a:lstStyle/>
          <a:p>
            <a:pPr algn="l">
              <a:lnSpc>
                <a:spcPct val="115000"/>
              </a:lnSpc>
            </a:pPr>
            <a:r>
              <a:rPr sz="2600" b="1" i="0">
                <a:solidFill>
                  <a:srgbClr val="1A2233"/>
                </a:solidFill>
                <a:latin typeface="Georgia"/>
              </a:rPr>
              <a:t>La premiere idee n'est pas forcement la meilleure</a:t>
            </a:r>
          </a:p>
        </p:txBody>
      </p:sp>
      <p:sp>
        <p:nvSpPr>
          <p:cNvPr id="6" name="Rounded Rectangle 5"/>
          <p:cNvSpPr/>
          <p:nvPr/>
        </p:nvSpPr>
        <p:spPr>
          <a:xfrm>
            <a:off x="731520" y="2148840"/>
            <a:ext cx="2514600" cy="3108960"/>
          </a:xfrm>
          <a:prstGeom prst="roundRect">
            <a:avLst>
              <a:gd name="adj" fmla="val 6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423160"/>
            <a:ext cx="2057400" cy="1005840"/>
          </a:xfrm>
          <a:prstGeom prst="rect">
            <a:avLst/>
          </a:prstGeom>
          <a:noFill/>
        </p:spPr>
        <p:txBody>
          <a:bodyPr wrap="square" anchor="t" lIns="0" rIns="0" tIns="0" bIns="0">
            <a:spAutoFit/>
          </a:bodyPr>
          <a:lstStyle/>
          <a:p>
            <a:pPr algn="l">
              <a:lnSpc>
                <a:spcPct val="110000"/>
              </a:lnSpc>
            </a:pPr>
            <a:r>
              <a:rPr sz="1700" b="1" i="0">
                <a:solidFill>
                  <a:srgbClr val="1A2233"/>
                </a:solidFill>
                <a:latin typeface="Calibri"/>
              </a:rPr>
              <a:t>Sites existants</a:t>
            </a:r>
          </a:p>
        </p:txBody>
      </p:sp>
      <p:sp>
        <p:nvSpPr>
          <p:cNvPr id="8" name="TextBox 7"/>
          <p:cNvSpPr txBox="1"/>
          <p:nvPr/>
        </p:nvSpPr>
        <p:spPr>
          <a:xfrm>
            <a:off x="960120" y="3520440"/>
            <a:ext cx="2057400" cy="1280160"/>
          </a:xfrm>
          <a:prstGeom prst="rect">
            <a:avLst/>
          </a:prstGeom>
          <a:noFill/>
        </p:spPr>
        <p:txBody>
          <a:bodyPr wrap="square" anchor="t" lIns="0" rIns="0" tIns="0" bIns="0">
            <a:spAutoFit/>
          </a:bodyPr>
          <a:lstStyle/>
          <a:p>
            <a:pPr algn="l">
              <a:lnSpc>
                <a:spcPct val="125000"/>
              </a:lnSpc>
            </a:pPr>
            <a:r>
              <a:rPr sz="1300" b="0" i="0">
                <a:solidFill>
                  <a:srgbClr val="566072"/>
                </a:solidFill>
                <a:latin typeface="Calibri"/>
              </a:rPr>
              <a:t>Gratuit mais plafonne, upload obligatoire</a:t>
            </a:r>
          </a:p>
        </p:txBody>
      </p:sp>
      <p:sp>
        <p:nvSpPr>
          <p:cNvPr id="9" name="Rounded Rectangle 8"/>
          <p:cNvSpPr/>
          <p:nvPr/>
        </p:nvSpPr>
        <p:spPr>
          <a:xfrm>
            <a:off x="3429000" y="2148840"/>
            <a:ext cx="2514600" cy="3108960"/>
          </a:xfrm>
          <a:prstGeom prst="roundRect">
            <a:avLst>
              <a:gd name="adj" fmla="val 6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2423160"/>
            <a:ext cx="2057400" cy="1005840"/>
          </a:xfrm>
          <a:prstGeom prst="rect">
            <a:avLst/>
          </a:prstGeom>
          <a:noFill/>
        </p:spPr>
        <p:txBody>
          <a:bodyPr wrap="square" anchor="t" lIns="0" rIns="0" tIns="0" bIns="0">
            <a:spAutoFit/>
          </a:bodyPr>
          <a:lstStyle/>
          <a:p>
            <a:pPr algn="l">
              <a:lnSpc>
                <a:spcPct val="110000"/>
              </a:lnSpc>
            </a:pPr>
            <a:r>
              <a:rPr sz="1700" b="1" i="0">
                <a:solidFill>
                  <a:srgbClr val="1A2233"/>
                </a:solidFill>
                <a:latin typeface="Calibri"/>
              </a:rPr>
              <a:t>Scripts en ligne</a:t>
            </a:r>
          </a:p>
          <a:p>
            <a:pPr algn="l">
              <a:lnSpc>
                <a:spcPct val="110000"/>
              </a:lnSpc>
            </a:pPr>
            <a:r>
              <a:rPr sz="1700" b="1" i="0">
                <a:solidFill>
                  <a:srgbClr val="1A2233"/>
                </a:solidFill>
                <a:latin typeface="Calibri"/>
              </a:rPr>
              <a:t>de commande</a:t>
            </a:r>
          </a:p>
        </p:txBody>
      </p:sp>
      <p:sp>
        <p:nvSpPr>
          <p:cNvPr id="11" name="TextBox 10"/>
          <p:cNvSpPr txBox="1"/>
          <p:nvPr/>
        </p:nvSpPr>
        <p:spPr>
          <a:xfrm>
            <a:off x="3657600" y="3520440"/>
            <a:ext cx="2057400" cy="1280160"/>
          </a:xfrm>
          <a:prstGeom prst="rect">
            <a:avLst/>
          </a:prstGeom>
          <a:noFill/>
        </p:spPr>
        <p:txBody>
          <a:bodyPr wrap="square" anchor="t" lIns="0" rIns="0" tIns="0" bIns="0">
            <a:spAutoFit/>
          </a:bodyPr>
          <a:lstStyle/>
          <a:p>
            <a:pPr algn="l">
              <a:lnSpc>
                <a:spcPct val="125000"/>
              </a:lnSpc>
            </a:pPr>
            <a:r>
              <a:rPr sz="1300" b="0" i="0">
                <a:solidFill>
                  <a:srgbClr val="566072"/>
                </a:solidFill>
                <a:latin typeface="Calibri"/>
              </a:rPr>
              <a:t>Local, mais reserve a ceux qui savent coder</a:t>
            </a:r>
          </a:p>
        </p:txBody>
      </p:sp>
      <p:sp>
        <p:nvSpPr>
          <p:cNvPr id="12" name="Rounded Rectangle 11"/>
          <p:cNvSpPr/>
          <p:nvPr/>
        </p:nvSpPr>
        <p:spPr>
          <a:xfrm>
            <a:off x="6126480" y="2148840"/>
            <a:ext cx="2514600" cy="3108960"/>
          </a:xfrm>
          <a:prstGeom prst="roundRect">
            <a:avLst>
              <a:gd name="adj" fmla="val 6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423160"/>
            <a:ext cx="2057400" cy="1005840"/>
          </a:xfrm>
          <a:prstGeom prst="rect">
            <a:avLst/>
          </a:prstGeom>
          <a:noFill/>
        </p:spPr>
        <p:txBody>
          <a:bodyPr wrap="square" anchor="t" lIns="0" rIns="0" tIns="0" bIns="0">
            <a:spAutoFit/>
          </a:bodyPr>
          <a:lstStyle/>
          <a:p>
            <a:pPr algn="l">
              <a:lnSpc>
                <a:spcPct val="110000"/>
              </a:lnSpc>
            </a:pPr>
            <a:r>
              <a:rPr sz="1700" b="1" i="0">
                <a:solidFill>
                  <a:srgbClr val="1A2233"/>
                </a:solidFill>
                <a:latin typeface="Calibri"/>
              </a:rPr>
              <a:t>Extension de</a:t>
            </a:r>
          </a:p>
          <a:p>
            <a:pPr algn="l">
              <a:lnSpc>
                <a:spcPct val="110000"/>
              </a:lnSpc>
            </a:pPr>
            <a:r>
              <a:rPr sz="1700" b="1" i="0">
                <a:solidFill>
                  <a:srgbClr val="1A2233"/>
                </a:solidFill>
                <a:latin typeface="Calibri"/>
              </a:rPr>
              <a:t>navigateur</a:t>
            </a:r>
          </a:p>
        </p:txBody>
      </p:sp>
      <p:sp>
        <p:nvSpPr>
          <p:cNvPr id="14" name="TextBox 13"/>
          <p:cNvSpPr txBox="1"/>
          <p:nvPr/>
        </p:nvSpPr>
        <p:spPr>
          <a:xfrm>
            <a:off x="6355080" y="3520440"/>
            <a:ext cx="2057400" cy="1280160"/>
          </a:xfrm>
          <a:prstGeom prst="rect">
            <a:avLst/>
          </a:prstGeom>
          <a:noFill/>
        </p:spPr>
        <p:txBody>
          <a:bodyPr wrap="square" anchor="t" lIns="0" rIns="0" tIns="0" bIns="0">
            <a:spAutoFit/>
          </a:bodyPr>
          <a:lstStyle/>
          <a:p>
            <a:pPr algn="l">
              <a:lnSpc>
                <a:spcPct val="125000"/>
              </a:lnSpc>
            </a:pPr>
            <a:r>
              <a:rPr sz="1300" b="0" i="0">
                <a:solidFill>
                  <a:srgbClr val="566072"/>
                </a:solidFill>
                <a:latin typeface="Calibri"/>
              </a:rPr>
              <a:t>Local, mais incapable de traitements lourds</a:t>
            </a:r>
          </a:p>
        </p:txBody>
      </p:sp>
      <p:sp>
        <p:nvSpPr>
          <p:cNvPr id="15" name="Rounded Rectangle 14"/>
          <p:cNvSpPr/>
          <p:nvPr/>
        </p:nvSpPr>
        <p:spPr>
          <a:xfrm>
            <a:off x="8823960" y="2148840"/>
            <a:ext cx="2514600" cy="3108960"/>
          </a:xfrm>
          <a:prstGeom prst="roundRect">
            <a:avLst>
              <a:gd name="adj" fmla="val 6000"/>
            </a:avLst>
          </a:prstGeom>
          <a:solidFill>
            <a:srgbClr val="DFF0E6"/>
          </a:solidFill>
          <a:ln w="1905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2423160"/>
            <a:ext cx="2057400" cy="1005840"/>
          </a:xfrm>
          <a:prstGeom prst="rect">
            <a:avLst/>
          </a:prstGeom>
          <a:noFill/>
        </p:spPr>
        <p:txBody>
          <a:bodyPr wrap="square" anchor="t" lIns="0" rIns="0" tIns="0" bIns="0">
            <a:spAutoFit/>
          </a:bodyPr>
          <a:lstStyle/>
          <a:p>
            <a:pPr algn="l">
              <a:lnSpc>
                <a:spcPct val="110000"/>
              </a:lnSpc>
            </a:pPr>
            <a:r>
              <a:rPr sz="1700" b="1" i="0">
                <a:solidFill>
                  <a:srgbClr val="1A2233"/>
                </a:solidFill>
                <a:latin typeface="Calibri"/>
              </a:rPr>
              <a:t>Application de</a:t>
            </a:r>
          </a:p>
          <a:p>
            <a:pPr algn="l">
              <a:lnSpc>
                <a:spcPct val="110000"/>
              </a:lnSpc>
            </a:pPr>
            <a:r>
              <a:rPr sz="1700" b="1" i="0">
                <a:solidFill>
                  <a:srgbClr val="1A2233"/>
                </a:solidFill>
                <a:latin typeface="Calibri"/>
              </a:rPr>
              <a:t>bureau tout-en-un</a:t>
            </a:r>
          </a:p>
        </p:txBody>
      </p:sp>
      <p:sp>
        <p:nvSpPr>
          <p:cNvPr id="17" name="TextBox 16"/>
          <p:cNvSpPr txBox="1"/>
          <p:nvPr/>
        </p:nvSpPr>
        <p:spPr>
          <a:xfrm>
            <a:off x="9052560" y="3520440"/>
            <a:ext cx="2057400" cy="1280160"/>
          </a:xfrm>
          <a:prstGeom prst="rect">
            <a:avLst/>
          </a:prstGeom>
          <a:noFill/>
        </p:spPr>
        <p:txBody>
          <a:bodyPr wrap="square" anchor="t" lIns="0" rIns="0" tIns="0" bIns="0">
            <a:spAutoFit/>
          </a:bodyPr>
          <a:lstStyle/>
          <a:p>
            <a:pPr algn="l">
              <a:lnSpc>
                <a:spcPct val="125000"/>
              </a:lnSpc>
            </a:pPr>
            <a:r>
              <a:rPr sz="1300" b="0" i="0">
                <a:solidFill>
                  <a:srgbClr val="1A2233"/>
                </a:solidFill>
                <a:latin typeface="Calibri"/>
              </a:rPr>
              <a:t>Locale, gratuite, accessible a tous</a:t>
            </a:r>
          </a:p>
        </p:txBody>
      </p:sp>
      <p:sp>
        <p:nvSpPr>
          <p:cNvPr id="18" name="TextBox 17"/>
          <p:cNvSpPr txBox="1"/>
          <p:nvPr/>
        </p:nvSpPr>
        <p:spPr>
          <a:xfrm>
            <a:off x="9052560" y="4800600"/>
            <a:ext cx="2057400" cy="365760"/>
          </a:xfrm>
          <a:prstGeom prst="rect">
            <a:avLst/>
          </a:prstGeom>
          <a:noFill/>
        </p:spPr>
        <p:txBody>
          <a:bodyPr wrap="none" anchor="t" lIns="0" rIns="0" tIns="0" bIns="0">
            <a:spAutoFit/>
          </a:bodyPr>
          <a:lstStyle/>
          <a:p>
            <a:pPr algn="l">
              <a:lnSpc>
                <a:spcPct val="115000"/>
              </a:lnSpc>
            </a:pPr>
            <a:r>
              <a:rPr sz="1200" b="1" i="0">
                <a:solidFill>
                  <a:srgbClr val="2F8F5B"/>
                </a:solidFill>
                <a:latin typeface="Consolas"/>
              </a:rPr>
              <a:t>★ Retenue</a:t>
            </a:r>
          </a:p>
        </p:txBody>
      </p:sp>
      <p:sp>
        <p:nvSpPr>
          <p:cNvPr id="19" name="TextBox 18"/>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20" name="TextBox 19"/>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5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2377440" cy="36576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2377440" cy="365760"/>
          </a:xfrm>
          <a:prstGeom prst="rect">
            <a:avLst/>
          </a:prstGeom>
          <a:noFill/>
        </p:spPr>
        <p:txBody>
          <a:bodyPr wrap="none" anchor="ctr" lIns="0" rIns="0" tIns="0" bIns="0">
            <a:spAutoFit/>
          </a:bodyPr>
          <a:lstStyle/>
          <a:p>
            <a:pPr algn="ctr">
              <a:lnSpc>
                <a:spcPct val="115000"/>
              </a:lnSpc>
            </a:pPr>
            <a:r>
              <a:rPr sz="1200" b="1" i="0">
                <a:solidFill>
                  <a:srgbClr val="1F6F78"/>
                </a:solidFill>
                <a:latin typeface="Consolas"/>
              </a:rPr>
              <a:t>SOLUTION</a:t>
            </a:r>
          </a:p>
        </p:txBody>
      </p:sp>
      <p:sp>
        <p:nvSpPr>
          <p:cNvPr id="5" name="TextBox 4"/>
          <p:cNvSpPr txBox="1"/>
          <p:nvPr/>
        </p:nvSpPr>
        <p:spPr>
          <a:xfrm>
            <a:off x="731520" y="1143000"/>
            <a:ext cx="8229600" cy="914400"/>
          </a:xfrm>
          <a:prstGeom prst="rect">
            <a:avLst/>
          </a:prstGeom>
          <a:noFill/>
        </p:spPr>
        <p:txBody>
          <a:bodyPr wrap="none" anchor="t" lIns="0" rIns="0" tIns="0" bIns="0">
            <a:spAutoFit/>
          </a:bodyPr>
          <a:lstStyle/>
          <a:p>
            <a:pPr algn="l">
              <a:lnSpc>
                <a:spcPct val="115000"/>
              </a:lnSpc>
            </a:pPr>
            <a:r>
              <a:rPr sz="4000" b="1" i="0">
                <a:solidFill>
                  <a:srgbClr val="FFFFFF"/>
                </a:solidFill>
                <a:latin typeface="Georgia"/>
              </a:rPr>
              <a:t>FileStudent</a:t>
            </a:r>
          </a:p>
        </p:txBody>
      </p:sp>
      <p:sp>
        <p:nvSpPr>
          <p:cNvPr id="6" name="Rounded Rectangle 5"/>
          <p:cNvSpPr/>
          <p:nvPr/>
        </p:nvSpPr>
        <p:spPr>
          <a:xfrm>
            <a:off x="731520" y="2377440"/>
            <a:ext cx="3429000" cy="1051560"/>
          </a:xfrm>
          <a:prstGeom prst="roundRect">
            <a:avLst>
              <a:gd name="adj" fmla="val 12000"/>
            </a:avLst>
          </a:prstGeom>
          <a:solidFill>
            <a:srgbClr val="24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77440"/>
            <a:ext cx="2880360" cy="1051560"/>
          </a:xfrm>
          <a:prstGeom prst="rect">
            <a:avLst/>
          </a:prstGeom>
          <a:noFill/>
        </p:spPr>
        <p:txBody>
          <a:bodyPr wrap="square" anchor="ctr" lIns="0" rIns="0" tIns="0" bIns="0">
            <a:spAutoFit/>
          </a:bodyPr>
          <a:lstStyle/>
          <a:p>
            <a:pPr algn="l">
              <a:lnSpc>
                <a:spcPct val="115000"/>
              </a:lnSpc>
            </a:pPr>
            <a:r>
              <a:rPr sz="1700" b="1" i="0">
                <a:solidFill>
                  <a:srgbClr val="FFFFFF"/>
                </a:solidFill>
                <a:latin typeface="Calibri"/>
              </a:rPr>
              <a:t>Conversion de formats</a:t>
            </a:r>
          </a:p>
        </p:txBody>
      </p:sp>
      <p:sp>
        <p:nvSpPr>
          <p:cNvPr id="8" name="Rounded Rectangle 7"/>
          <p:cNvSpPr/>
          <p:nvPr/>
        </p:nvSpPr>
        <p:spPr>
          <a:xfrm>
            <a:off x="4389120" y="2377440"/>
            <a:ext cx="3429000" cy="1051560"/>
          </a:xfrm>
          <a:prstGeom prst="roundRect">
            <a:avLst>
              <a:gd name="adj" fmla="val 12000"/>
            </a:avLst>
          </a:prstGeom>
          <a:solidFill>
            <a:srgbClr val="24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2377440"/>
            <a:ext cx="2880360" cy="1051560"/>
          </a:xfrm>
          <a:prstGeom prst="rect">
            <a:avLst/>
          </a:prstGeom>
          <a:noFill/>
        </p:spPr>
        <p:txBody>
          <a:bodyPr wrap="square" anchor="ctr" lIns="0" rIns="0" tIns="0" bIns="0">
            <a:spAutoFit/>
          </a:bodyPr>
          <a:lstStyle/>
          <a:p>
            <a:pPr algn="l">
              <a:lnSpc>
                <a:spcPct val="115000"/>
              </a:lnSpc>
            </a:pPr>
            <a:r>
              <a:rPr sz="1700" b="1" i="0">
                <a:solidFill>
                  <a:srgbClr val="FFFFFF"/>
                </a:solidFill>
                <a:latin typeface="Calibri"/>
              </a:rPr>
              <a:t>Fusion de fichiers</a:t>
            </a:r>
          </a:p>
        </p:txBody>
      </p:sp>
      <p:sp>
        <p:nvSpPr>
          <p:cNvPr id="10" name="Rounded Rectangle 9"/>
          <p:cNvSpPr/>
          <p:nvPr/>
        </p:nvSpPr>
        <p:spPr>
          <a:xfrm>
            <a:off x="8046720" y="2377440"/>
            <a:ext cx="3429000" cy="1051560"/>
          </a:xfrm>
          <a:prstGeom prst="roundRect">
            <a:avLst>
              <a:gd name="adj" fmla="val 12000"/>
            </a:avLst>
          </a:prstGeom>
          <a:solidFill>
            <a:srgbClr val="24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2377440"/>
            <a:ext cx="2880360" cy="1051560"/>
          </a:xfrm>
          <a:prstGeom prst="rect">
            <a:avLst/>
          </a:prstGeom>
          <a:noFill/>
        </p:spPr>
        <p:txBody>
          <a:bodyPr wrap="square" anchor="ctr" lIns="0" rIns="0" tIns="0" bIns="0">
            <a:spAutoFit/>
          </a:bodyPr>
          <a:lstStyle/>
          <a:p>
            <a:pPr algn="l">
              <a:lnSpc>
                <a:spcPct val="115000"/>
              </a:lnSpc>
            </a:pPr>
            <a:r>
              <a:rPr sz="1700" b="1" i="0">
                <a:solidFill>
                  <a:srgbClr val="FFFFFF"/>
                </a:solidFill>
                <a:latin typeface="Calibri"/>
              </a:rPr>
              <a:t>Reduction de taille</a:t>
            </a:r>
          </a:p>
        </p:txBody>
      </p:sp>
      <p:sp>
        <p:nvSpPr>
          <p:cNvPr id="12" name="Rounded Rectangle 11"/>
          <p:cNvSpPr/>
          <p:nvPr/>
        </p:nvSpPr>
        <p:spPr>
          <a:xfrm>
            <a:off x="731520" y="3657600"/>
            <a:ext cx="3429000" cy="1051560"/>
          </a:xfrm>
          <a:prstGeom prst="roundRect">
            <a:avLst>
              <a:gd name="adj" fmla="val 12000"/>
            </a:avLst>
          </a:prstGeom>
          <a:solidFill>
            <a:srgbClr val="24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657600"/>
            <a:ext cx="2880360" cy="1051560"/>
          </a:xfrm>
          <a:prstGeom prst="rect">
            <a:avLst/>
          </a:prstGeom>
          <a:noFill/>
        </p:spPr>
        <p:txBody>
          <a:bodyPr wrap="square" anchor="ctr" lIns="0" rIns="0" tIns="0" bIns="0">
            <a:spAutoFit/>
          </a:bodyPr>
          <a:lstStyle/>
          <a:p>
            <a:pPr algn="l">
              <a:lnSpc>
                <a:spcPct val="115000"/>
              </a:lnSpc>
            </a:pPr>
            <a:r>
              <a:rPr sz="1700" b="1" i="0">
                <a:solidFill>
                  <a:srgbClr val="FFFFFF"/>
                </a:solidFill>
                <a:latin typeface="Calibri"/>
              </a:rPr>
              <a:t>Archive .tar.gz</a:t>
            </a:r>
          </a:p>
        </p:txBody>
      </p:sp>
      <p:sp>
        <p:nvSpPr>
          <p:cNvPr id="14" name="Rounded Rectangle 13"/>
          <p:cNvSpPr/>
          <p:nvPr/>
        </p:nvSpPr>
        <p:spPr>
          <a:xfrm>
            <a:off x="4389120" y="3657600"/>
            <a:ext cx="3429000" cy="1051560"/>
          </a:xfrm>
          <a:prstGeom prst="roundRect">
            <a:avLst>
              <a:gd name="adj" fmla="val 12000"/>
            </a:avLst>
          </a:prstGeom>
          <a:solidFill>
            <a:srgbClr val="24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3657600"/>
            <a:ext cx="2880360" cy="1051560"/>
          </a:xfrm>
          <a:prstGeom prst="rect">
            <a:avLst/>
          </a:prstGeom>
          <a:noFill/>
        </p:spPr>
        <p:txBody>
          <a:bodyPr wrap="square" anchor="ctr" lIns="0" rIns="0" tIns="0" bIns="0">
            <a:spAutoFit/>
          </a:bodyPr>
          <a:lstStyle/>
          <a:p>
            <a:pPr algn="l">
              <a:lnSpc>
                <a:spcPct val="115000"/>
              </a:lnSpc>
            </a:pPr>
            <a:r>
              <a:rPr sz="1700" b="1" i="0">
                <a:solidFill>
                  <a:srgbClr val="FFFFFF"/>
                </a:solidFill>
                <a:latin typeface="Calibri"/>
              </a:rPr>
              <a:t>Amelioration d'image</a:t>
            </a:r>
          </a:p>
        </p:txBody>
      </p:sp>
      <p:sp>
        <p:nvSpPr>
          <p:cNvPr id="16" name="Rounded Rectangle 15"/>
          <p:cNvSpPr/>
          <p:nvPr/>
        </p:nvSpPr>
        <p:spPr>
          <a:xfrm>
            <a:off x="8046720" y="3657600"/>
            <a:ext cx="3429000" cy="1051560"/>
          </a:xfrm>
          <a:prstGeom prst="roundRect">
            <a:avLst>
              <a:gd name="adj" fmla="val 12000"/>
            </a:avLst>
          </a:prstGeom>
          <a:solidFill>
            <a:srgbClr val="24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3657600"/>
            <a:ext cx="2880360" cy="1051560"/>
          </a:xfrm>
          <a:prstGeom prst="rect">
            <a:avLst/>
          </a:prstGeom>
          <a:noFill/>
        </p:spPr>
        <p:txBody>
          <a:bodyPr wrap="square" anchor="ctr" lIns="0" rIns="0" tIns="0" bIns="0">
            <a:spAutoFit/>
          </a:bodyPr>
          <a:lstStyle/>
          <a:p>
            <a:pPr algn="l">
              <a:lnSpc>
                <a:spcPct val="115000"/>
              </a:lnSpc>
            </a:pPr>
            <a:r>
              <a:rPr sz="1700" b="1" i="0">
                <a:solidFill>
                  <a:srgbClr val="FFFFFF"/>
                </a:solidFill>
                <a:latin typeface="Calibri"/>
              </a:rPr>
              <a:t>Detection de texte IA</a:t>
            </a:r>
          </a:p>
        </p:txBody>
      </p:sp>
      <p:sp>
        <p:nvSpPr>
          <p:cNvPr id="18" name="TextBox 17"/>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19" name="TextBox 18"/>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6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2377440" cy="36576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2377440" cy="365760"/>
          </a:xfrm>
          <a:prstGeom prst="rect">
            <a:avLst/>
          </a:prstGeom>
          <a:noFill/>
        </p:spPr>
        <p:txBody>
          <a:bodyPr wrap="none" anchor="ctr" lIns="0" rIns="0" tIns="0" bIns="0">
            <a:spAutoFit/>
          </a:bodyPr>
          <a:lstStyle/>
          <a:p>
            <a:pPr algn="ctr">
              <a:lnSpc>
                <a:spcPct val="115000"/>
              </a:lnSpc>
            </a:pPr>
            <a:r>
              <a:rPr sz="1200" b="1" i="0">
                <a:solidFill>
                  <a:srgbClr val="1F6F78"/>
                </a:solidFill>
                <a:latin typeface="Consolas"/>
              </a:rPr>
              <a:t>VALEUR</a:t>
            </a:r>
          </a:p>
        </p:txBody>
      </p:sp>
      <p:sp>
        <p:nvSpPr>
          <p:cNvPr id="5" name="TextBox 4"/>
          <p:cNvSpPr txBox="1"/>
          <p:nvPr/>
        </p:nvSpPr>
        <p:spPr>
          <a:xfrm>
            <a:off x="731520" y="2286000"/>
            <a:ext cx="10515600" cy="1828800"/>
          </a:xfrm>
          <a:prstGeom prst="rect">
            <a:avLst/>
          </a:prstGeom>
          <a:noFill/>
        </p:spPr>
        <p:txBody>
          <a:bodyPr wrap="square" anchor="t" lIns="0" rIns="0" tIns="0" bIns="0">
            <a:spAutoFit/>
          </a:bodyPr>
          <a:lstStyle/>
          <a:p>
            <a:pPr algn="l">
              <a:lnSpc>
                <a:spcPct val="105000"/>
              </a:lnSpc>
            </a:pPr>
            <a:r>
              <a:rPr sz="4200" b="1" i="0">
                <a:solidFill>
                  <a:srgbClr val="1F6F78"/>
                </a:solidFill>
                <a:latin typeface="Georgia"/>
              </a:rPr>
              <a:t>Ses documents ne quittent jamais</a:t>
            </a:r>
          </a:p>
          <a:p>
            <a:pPr algn="l">
              <a:lnSpc>
                <a:spcPct val="105000"/>
              </a:lnSpc>
            </a:pPr>
            <a:r>
              <a:rPr sz="4200" b="1" i="0">
                <a:solidFill>
                  <a:srgbClr val="1F6F78"/>
                </a:solidFill>
                <a:latin typeface="Georgia"/>
              </a:rPr>
              <a:t>son ordinateur</a:t>
            </a:r>
          </a:p>
        </p:txBody>
      </p:sp>
      <p:sp>
        <p:nvSpPr>
          <p:cNvPr id="6" name="Rounded Rectangle 5"/>
          <p:cNvSpPr/>
          <p:nvPr/>
        </p:nvSpPr>
        <p:spPr>
          <a:xfrm>
            <a:off x="731520" y="4480560"/>
            <a:ext cx="2651760" cy="64008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480560"/>
            <a:ext cx="2651760" cy="640080"/>
          </a:xfrm>
          <a:prstGeom prst="rect">
            <a:avLst/>
          </a:prstGeom>
          <a:noFill/>
        </p:spPr>
        <p:txBody>
          <a:bodyPr wrap="none" anchor="ctr" lIns="0" rIns="0" tIns="0" bIns="0">
            <a:spAutoFit/>
          </a:bodyPr>
          <a:lstStyle/>
          <a:p>
            <a:pPr algn="ctr">
              <a:lnSpc>
                <a:spcPct val="115000"/>
              </a:lnSpc>
            </a:pPr>
            <a:r>
              <a:rPr sz="1600" b="1" i="0">
                <a:solidFill>
                  <a:srgbClr val="1F6F78"/>
                </a:solidFill>
                <a:latin typeface="Calibri"/>
              </a:rPr>
              <a:t>Gratuit</a:t>
            </a:r>
          </a:p>
        </p:txBody>
      </p:sp>
      <p:sp>
        <p:nvSpPr>
          <p:cNvPr id="8" name="Rounded Rectangle 7"/>
          <p:cNvSpPr/>
          <p:nvPr/>
        </p:nvSpPr>
        <p:spPr>
          <a:xfrm>
            <a:off x="3611880" y="4480560"/>
            <a:ext cx="2651760" cy="64008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4480560"/>
            <a:ext cx="2651760" cy="640080"/>
          </a:xfrm>
          <a:prstGeom prst="rect">
            <a:avLst/>
          </a:prstGeom>
          <a:noFill/>
        </p:spPr>
        <p:txBody>
          <a:bodyPr wrap="none" anchor="ctr" lIns="0" rIns="0" tIns="0" bIns="0">
            <a:spAutoFit/>
          </a:bodyPr>
          <a:lstStyle/>
          <a:p>
            <a:pPr algn="ctr">
              <a:lnSpc>
                <a:spcPct val="115000"/>
              </a:lnSpc>
            </a:pPr>
            <a:r>
              <a:rPr sz="1600" b="1" i="0">
                <a:solidFill>
                  <a:srgbClr val="1F6F78"/>
                </a:solidFill>
                <a:latin typeface="Calibri"/>
              </a:rPr>
              <a:t>Hors ligne</a:t>
            </a:r>
          </a:p>
        </p:txBody>
      </p:sp>
      <p:sp>
        <p:nvSpPr>
          <p:cNvPr id="10" name="Rounded Rectangle 9"/>
          <p:cNvSpPr/>
          <p:nvPr/>
        </p:nvSpPr>
        <p:spPr>
          <a:xfrm>
            <a:off x="6492240" y="4480560"/>
            <a:ext cx="2651760" cy="64008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480560"/>
            <a:ext cx="2651760" cy="640080"/>
          </a:xfrm>
          <a:prstGeom prst="rect">
            <a:avLst/>
          </a:prstGeom>
          <a:noFill/>
        </p:spPr>
        <p:txBody>
          <a:bodyPr wrap="none" anchor="ctr" lIns="0" rIns="0" tIns="0" bIns="0">
            <a:spAutoFit/>
          </a:bodyPr>
          <a:lstStyle/>
          <a:p>
            <a:pPr algn="ctr">
              <a:lnSpc>
                <a:spcPct val="115000"/>
              </a:lnSpc>
            </a:pPr>
            <a:r>
              <a:rPr sz="1600" b="1" i="0">
                <a:solidFill>
                  <a:srgbClr val="1F6F78"/>
                </a:solidFill>
                <a:latin typeface="Calibri"/>
              </a:rPr>
              <a:t>Sans creation de compte</a:t>
            </a:r>
          </a:p>
        </p:txBody>
      </p:sp>
      <p:sp>
        <p:nvSpPr>
          <p:cNvPr id="12" name="TextBox 11"/>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13" name="TextBox 12"/>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7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2377440" cy="36576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2377440" cy="365760"/>
          </a:xfrm>
          <a:prstGeom prst="rect">
            <a:avLst/>
          </a:prstGeom>
          <a:noFill/>
        </p:spPr>
        <p:txBody>
          <a:bodyPr wrap="none" anchor="ctr" lIns="0" rIns="0" tIns="0" bIns="0">
            <a:spAutoFit/>
          </a:bodyPr>
          <a:lstStyle/>
          <a:p>
            <a:pPr algn="ctr">
              <a:lnSpc>
                <a:spcPct val="115000"/>
              </a:lnSpc>
            </a:pPr>
            <a:r>
              <a:rPr sz="1200" b="1" i="0">
                <a:solidFill>
                  <a:srgbClr val="1F6F78"/>
                </a:solidFill>
                <a:latin typeface="Consolas"/>
              </a:rPr>
              <a:t>PREUVE</a:t>
            </a:r>
          </a:p>
        </p:txBody>
      </p:sp>
      <p:sp>
        <p:nvSpPr>
          <p:cNvPr id="5" name="TextBox 4"/>
          <p:cNvSpPr txBox="1"/>
          <p:nvPr/>
        </p:nvSpPr>
        <p:spPr>
          <a:xfrm>
            <a:off x="731520" y="1234440"/>
            <a:ext cx="9601200" cy="640080"/>
          </a:xfrm>
          <a:prstGeom prst="rect">
            <a:avLst/>
          </a:prstGeom>
          <a:noFill/>
        </p:spPr>
        <p:txBody>
          <a:bodyPr wrap="none" anchor="t" lIns="0" rIns="0" tIns="0" bIns="0">
            <a:spAutoFit/>
          </a:bodyPr>
          <a:lstStyle/>
          <a:p>
            <a:pPr algn="l">
              <a:lnSpc>
                <a:spcPct val="115000"/>
              </a:lnSpc>
            </a:pPr>
            <a:r>
              <a:rPr sz="2800" b="1" i="0">
                <a:solidFill>
                  <a:srgbClr val="1A2233"/>
                </a:solidFill>
                <a:latin typeface="Georgia"/>
              </a:rPr>
              <a:t>Ce que la demo montrera vendredi</a:t>
            </a:r>
          </a:p>
        </p:txBody>
      </p:sp>
      <p:sp>
        <p:nvSpPr>
          <p:cNvPr id="6" name="Oval 5"/>
          <p:cNvSpPr/>
          <p:nvPr/>
        </p:nvSpPr>
        <p:spPr>
          <a:xfrm>
            <a:off x="731520" y="2286000"/>
            <a:ext cx="384048" cy="384048"/>
          </a:xfrm>
          <a:prstGeom prst="ellipse">
            <a:avLst/>
          </a:prstGeom>
          <a:solidFill>
            <a:srgbClr val="D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286000"/>
            <a:ext cx="384048" cy="384048"/>
          </a:xfrm>
          <a:prstGeom prst="rect">
            <a:avLst/>
          </a:prstGeom>
          <a:noFill/>
        </p:spPr>
        <p:txBody>
          <a:bodyPr wrap="none" anchor="ctr" lIns="0" rIns="0" tIns="0" bIns="0">
            <a:spAutoFit/>
          </a:bodyPr>
          <a:lstStyle/>
          <a:p>
            <a:pPr algn="ctr">
              <a:lnSpc>
                <a:spcPct val="115000"/>
              </a:lnSpc>
            </a:pPr>
            <a:r>
              <a:rPr sz="1600" b="1" i="0">
                <a:solidFill>
                  <a:srgbClr val="2F8F5B"/>
                </a:solidFill>
                <a:latin typeface="Calibri"/>
              </a:rPr>
              <a:t>✓</a:t>
            </a:r>
          </a:p>
        </p:txBody>
      </p:sp>
      <p:sp>
        <p:nvSpPr>
          <p:cNvPr id="8" name="TextBox 7"/>
          <p:cNvSpPr txBox="1"/>
          <p:nvPr/>
        </p:nvSpPr>
        <p:spPr>
          <a:xfrm>
            <a:off x="1298448" y="2240280"/>
            <a:ext cx="4462272" cy="822960"/>
          </a:xfrm>
          <a:prstGeom prst="rect">
            <a:avLst/>
          </a:prstGeom>
          <a:noFill/>
        </p:spPr>
        <p:txBody>
          <a:bodyPr wrap="square" anchor="t" lIns="0" rIns="0" tIns="0" bIns="0">
            <a:spAutoFit/>
          </a:bodyPr>
          <a:lstStyle/>
          <a:p>
            <a:pPr algn="l">
              <a:lnSpc>
                <a:spcPct val="115000"/>
              </a:lnSpc>
            </a:pPr>
            <a:r>
              <a:rPr sz="1500" b="0" i="0">
                <a:solidFill>
                  <a:srgbClr val="1A2233"/>
                </a:solidFill>
                <a:latin typeface="Calibri"/>
              </a:rPr>
              <a:t>Demonstration live sur un vrai fichier de cours</a:t>
            </a:r>
          </a:p>
        </p:txBody>
      </p:sp>
      <p:sp>
        <p:nvSpPr>
          <p:cNvPr id="9" name="Oval 8"/>
          <p:cNvSpPr/>
          <p:nvPr/>
        </p:nvSpPr>
        <p:spPr>
          <a:xfrm>
            <a:off x="5989320" y="2286000"/>
            <a:ext cx="384048" cy="384048"/>
          </a:xfrm>
          <a:prstGeom prst="ellipse">
            <a:avLst/>
          </a:prstGeom>
          <a:solidFill>
            <a:srgbClr val="D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2286000"/>
            <a:ext cx="384048" cy="384048"/>
          </a:xfrm>
          <a:prstGeom prst="rect">
            <a:avLst/>
          </a:prstGeom>
          <a:noFill/>
        </p:spPr>
        <p:txBody>
          <a:bodyPr wrap="none" anchor="ctr" lIns="0" rIns="0" tIns="0" bIns="0">
            <a:spAutoFit/>
          </a:bodyPr>
          <a:lstStyle/>
          <a:p>
            <a:pPr algn="ctr">
              <a:lnSpc>
                <a:spcPct val="115000"/>
              </a:lnSpc>
            </a:pPr>
            <a:r>
              <a:rPr sz="1600" b="1" i="0">
                <a:solidFill>
                  <a:srgbClr val="2F8F5B"/>
                </a:solidFill>
                <a:latin typeface="Calibri"/>
              </a:rPr>
              <a:t>✓</a:t>
            </a:r>
          </a:p>
        </p:txBody>
      </p:sp>
      <p:sp>
        <p:nvSpPr>
          <p:cNvPr id="11" name="TextBox 10"/>
          <p:cNvSpPr txBox="1"/>
          <p:nvPr/>
        </p:nvSpPr>
        <p:spPr>
          <a:xfrm>
            <a:off x="6556248" y="2240280"/>
            <a:ext cx="4462272" cy="822960"/>
          </a:xfrm>
          <a:prstGeom prst="rect">
            <a:avLst/>
          </a:prstGeom>
          <a:noFill/>
        </p:spPr>
        <p:txBody>
          <a:bodyPr wrap="square" anchor="t" lIns="0" rIns="0" tIns="0" bIns="0">
            <a:spAutoFit/>
          </a:bodyPr>
          <a:lstStyle/>
          <a:p>
            <a:pPr algn="l">
              <a:lnSpc>
                <a:spcPct val="115000"/>
              </a:lnSpc>
            </a:pPr>
            <a:r>
              <a:rPr sz="1500" b="0" i="0">
                <a:solidFill>
                  <a:srgbClr val="1A2233"/>
                </a:solidFill>
                <a:latin typeface="Calibri"/>
              </a:rPr>
              <a:t>Poids d'un PDF affiche avant et apres compression</a:t>
            </a:r>
          </a:p>
        </p:txBody>
      </p:sp>
      <p:sp>
        <p:nvSpPr>
          <p:cNvPr id="12" name="Oval 11"/>
          <p:cNvSpPr/>
          <p:nvPr/>
        </p:nvSpPr>
        <p:spPr>
          <a:xfrm>
            <a:off x="731520" y="3383280"/>
            <a:ext cx="384048" cy="384048"/>
          </a:xfrm>
          <a:prstGeom prst="ellipse">
            <a:avLst/>
          </a:prstGeom>
          <a:solidFill>
            <a:srgbClr val="D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383280"/>
            <a:ext cx="384048" cy="384048"/>
          </a:xfrm>
          <a:prstGeom prst="rect">
            <a:avLst/>
          </a:prstGeom>
          <a:noFill/>
        </p:spPr>
        <p:txBody>
          <a:bodyPr wrap="none" anchor="ctr" lIns="0" rIns="0" tIns="0" bIns="0">
            <a:spAutoFit/>
          </a:bodyPr>
          <a:lstStyle/>
          <a:p>
            <a:pPr algn="ctr">
              <a:lnSpc>
                <a:spcPct val="115000"/>
              </a:lnSpc>
            </a:pPr>
            <a:r>
              <a:rPr sz="1600" b="1" i="0">
                <a:solidFill>
                  <a:srgbClr val="2F8F5B"/>
                </a:solidFill>
                <a:latin typeface="Calibri"/>
              </a:rPr>
              <a:t>✓</a:t>
            </a:r>
          </a:p>
        </p:txBody>
      </p:sp>
      <p:sp>
        <p:nvSpPr>
          <p:cNvPr id="14" name="TextBox 13"/>
          <p:cNvSpPr txBox="1"/>
          <p:nvPr/>
        </p:nvSpPr>
        <p:spPr>
          <a:xfrm>
            <a:off x="1298448" y="3337560"/>
            <a:ext cx="4462272" cy="822960"/>
          </a:xfrm>
          <a:prstGeom prst="rect">
            <a:avLst/>
          </a:prstGeom>
          <a:noFill/>
        </p:spPr>
        <p:txBody>
          <a:bodyPr wrap="square" anchor="t" lIns="0" rIns="0" tIns="0" bIns="0">
            <a:spAutoFit/>
          </a:bodyPr>
          <a:lstStyle/>
          <a:p>
            <a:pPr algn="l">
              <a:lnSpc>
                <a:spcPct val="115000"/>
              </a:lnSpc>
            </a:pPr>
            <a:r>
              <a:rPr sz="1500" b="0" i="0">
                <a:solidFill>
                  <a:srgbClr val="1A2233"/>
                </a:solidFill>
                <a:latin typeface="Calibri"/>
              </a:rPr>
              <a:t>Site vitrine avec le slider avant/apres</a:t>
            </a:r>
          </a:p>
        </p:txBody>
      </p:sp>
      <p:sp>
        <p:nvSpPr>
          <p:cNvPr id="15" name="Oval 14"/>
          <p:cNvSpPr/>
          <p:nvPr/>
        </p:nvSpPr>
        <p:spPr>
          <a:xfrm>
            <a:off x="5989320" y="3383280"/>
            <a:ext cx="384048" cy="384048"/>
          </a:xfrm>
          <a:prstGeom prst="ellipse">
            <a:avLst/>
          </a:prstGeom>
          <a:solidFill>
            <a:srgbClr val="DF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3383280"/>
            <a:ext cx="384048" cy="384048"/>
          </a:xfrm>
          <a:prstGeom prst="rect">
            <a:avLst/>
          </a:prstGeom>
          <a:noFill/>
        </p:spPr>
        <p:txBody>
          <a:bodyPr wrap="none" anchor="ctr" lIns="0" rIns="0" tIns="0" bIns="0">
            <a:spAutoFit/>
          </a:bodyPr>
          <a:lstStyle/>
          <a:p>
            <a:pPr algn="ctr">
              <a:lnSpc>
                <a:spcPct val="115000"/>
              </a:lnSpc>
            </a:pPr>
            <a:r>
              <a:rPr sz="1600" b="1" i="0">
                <a:solidFill>
                  <a:srgbClr val="2F8F5B"/>
                </a:solidFill>
                <a:latin typeface="Calibri"/>
              </a:rPr>
              <a:t>✓</a:t>
            </a:r>
          </a:p>
        </p:txBody>
      </p:sp>
      <p:sp>
        <p:nvSpPr>
          <p:cNvPr id="17" name="TextBox 16"/>
          <p:cNvSpPr txBox="1"/>
          <p:nvPr/>
        </p:nvSpPr>
        <p:spPr>
          <a:xfrm>
            <a:off x="6556248" y="3337560"/>
            <a:ext cx="4462272" cy="822960"/>
          </a:xfrm>
          <a:prstGeom prst="rect">
            <a:avLst/>
          </a:prstGeom>
          <a:noFill/>
        </p:spPr>
        <p:txBody>
          <a:bodyPr wrap="square" anchor="t" lIns="0" rIns="0" tIns="0" bIns="0">
            <a:spAutoFit/>
          </a:bodyPr>
          <a:lstStyle/>
          <a:p>
            <a:pPr algn="l">
              <a:lnSpc>
                <a:spcPct val="115000"/>
              </a:lnSpc>
            </a:pPr>
            <a:r>
              <a:rPr sz="1500" b="0" i="0">
                <a:solidFill>
                  <a:srgbClr val="1A2233"/>
                </a:solidFill>
                <a:latin typeface="Calibri"/>
              </a:rPr>
              <a:t>Executable installable sur Linux et Windows</a:t>
            </a:r>
          </a:p>
        </p:txBody>
      </p:sp>
      <p:sp>
        <p:nvSpPr>
          <p:cNvPr id="18" name="TextBox 17"/>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19" name="TextBox 18"/>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8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2377440" cy="36576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2377440" cy="365760"/>
          </a:xfrm>
          <a:prstGeom prst="rect">
            <a:avLst/>
          </a:prstGeom>
          <a:noFill/>
        </p:spPr>
        <p:txBody>
          <a:bodyPr wrap="none" anchor="ctr" lIns="0" rIns="0" tIns="0" bIns="0">
            <a:spAutoFit/>
          </a:bodyPr>
          <a:lstStyle/>
          <a:p>
            <a:pPr algn="ctr">
              <a:lnSpc>
                <a:spcPct val="115000"/>
              </a:lnSpc>
            </a:pPr>
            <a:r>
              <a:rPr sz="1200" b="1" i="0">
                <a:solidFill>
                  <a:srgbClr val="1F6F78"/>
                </a:solidFill>
                <a:latin typeface="Consolas"/>
              </a:rPr>
              <a:t>A COMPLETER AVANT VENDREDI</a:t>
            </a:r>
          </a:p>
        </p:txBody>
      </p:sp>
      <p:sp>
        <p:nvSpPr>
          <p:cNvPr id="5" name="TextBox 4"/>
          <p:cNvSpPr txBox="1"/>
          <p:nvPr/>
        </p:nvSpPr>
        <p:spPr>
          <a:xfrm>
            <a:off x="731520" y="1143000"/>
            <a:ext cx="9601200" cy="548640"/>
          </a:xfrm>
          <a:prstGeom prst="rect">
            <a:avLst/>
          </a:prstGeom>
          <a:noFill/>
        </p:spPr>
        <p:txBody>
          <a:bodyPr wrap="none" anchor="t" lIns="0" rIns="0" tIns="0" bIns="0">
            <a:spAutoFit/>
          </a:bodyPr>
          <a:lstStyle/>
          <a:p>
            <a:pPr algn="l">
              <a:lnSpc>
                <a:spcPct val="115000"/>
              </a:lnSpc>
            </a:pPr>
            <a:r>
              <a:rPr sz="2600" b="1" i="0">
                <a:solidFill>
                  <a:srgbClr val="FFFFFF"/>
                </a:solidFill>
                <a:latin typeface="Georgia"/>
              </a:rPr>
              <a:t>Montrer plutot que raconter</a:t>
            </a:r>
          </a:p>
        </p:txBody>
      </p:sp>
      <p:sp>
        <p:nvSpPr>
          <p:cNvPr id="6" name="Rounded Rectangle 5"/>
          <p:cNvSpPr/>
          <p:nvPr/>
        </p:nvSpPr>
        <p:spPr>
          <a:xfrm>
            <a:off x="1188720" y="2377440"/>
            <a:ext cx="3657600" cy="2377440"/>
          </a:xfrm>
          <a:prstGeom prst="roundRect">
            <a:avLst>
              <a:gd name="adj" fmla="val 8000"/>
            </a:avLst>
          </a:prstGeom>
          <a:solidFill>
            <a:srgbClr val="24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651760"/>
            <a:ext cx="3657600" cy="457200"/>
          </a:xfrm>
          <a:prstGeom prst="rect">
            <a:avLst/>
          </a:prstGeom>
          <a:noFill/>
        </p:spPr>
        <p:txBody>
          <a:bodyPr wrap="none" anchor="t" lIns="0" rIns="0" tIns="0" bIns="0">
            <a:spAutoFit/>
          </a:bodyPr>
          <a:lstStyle/>
          <a:p>
            <a:pPr algn="ctr">
              <a:lnSpc>
                <a:spcPct val="115000"/>
              </a:lnSpc>
            </a:pPr>
            <a:r>
              <a:rPr sz="1400" b="1" i="0">
                <a:solidFill>
                  <a:srgbClr val="9AA3B2"/>
                </a:solidFill>
                <a:latin typeface="Consolas"/>
              </a:rPr>
              <a:t>AVANT</a:t>
            </a:r>
          </a:p>
        </p:txBody>
      </p:sp>
      <p:sp>
        <p:nvSpPr>
          <p:cNvPr id="8" name="TextBox 7"/>
          <p:cNvSpPr txBox="1"/>
          <p:nvPr/>
        </p:nvSpPr>
        <p:spPr>
          <a:xfrm>
            <a:off x="1188720" y="3108960"/>
            <a:ext cx="3657600" cy="1097280"/>
          </a:xfrm>
          <a:prstGeom prst="rect">
            <a:avLst/>
          </a:prstGeom>
          <a:noFill/>
        </p:spPr>
        <p:txBody>
          <a:bodyPr wrap="none" anchor="t" lIns="0" rIns="0" tIns="0" bIns="0">
            <a:spAutoFit/>
          </a:bodyPr>
          <a:lstStyle/>
          <a:p>
            <a:pPr algn="ctr">
              <a:lnSpc>
                <a:spcPct val="115000"/>
              </a:lnSpc>
            </a:pPr>
            <a:r>
              <a:rPr sz="4400" b="1" i="0">
                <a:solidFill>
                  <a:srgbClr val="FFFFFF"/>
                </a:solidFill>
                <a:latin typeface="Consolas"/>
              </a:rPr>
              <a:t>___ Mo</a:t>
            </a:r>
          </a:p>
        </p:txBody>
      </p:sp>
      <p:sp>
        <p:nvSpPr>
          <p:cNvPr id="9" name="Chevron 8"/>
          <p:cNvSpPr/>
          <p:nvPr/>
        </p:nvSpPr>
        <p:spPr>
          <a:xfrm>
            <a:off x="5074920" y="3200400"/>
            <a:ext cx="1463040" cy="822960"/>
          </a:xfrm>
          <a:prstGeom prst="chevron">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0" y="2377440"/>
            <a:ext cx="3657600" cy="2377440"/>
          </a:xfrm>
          <a:prstGeom prst="roundRect">
            <a:avLst>
              <a:gd name="adj" fmla="val 8000"/>
            </a:avLst>
          </a:prstGeom>
          <a:solidFill>
            <a:srgbClr val="1C35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2651760"/>
            <a:ext cx="3657600" cy="457200"/>
          </a:xfrm>
          <a:prstGeom prst="rect">
            <a:avLst/>
          </a:prstGeom>
          <a:noFill/>
        </p:spPr>
        <p:txBody>
          <a:bodyPr wrap="none" anchor="t" lIns="0" rIns="0" tIns="0" bIns="0">
            <a:spAutoFit/>
          </a:bodyPr>
          <a:lstStyle/>
          <a:p>
            <a:pPr algn="ctr">
              <a:lnSpc>
                <a:spcPct val="115000"/>
              </a:lnSpc>
            </a:pPr>
            <a:r>
              <a:rPr sz="1400" b="1" i="0">
                <a:solidFill>
                  <a:srgbClr val="9AA3B2"/>
                </a:solidFill>
                <a:latin typeface="Consolas"/>
              </a:rPr>
              <a:t>APRES</a:t>
            </a:r>
          </a:p>
        </p:txBody>
      </p:sp>
      <p:sp>
        <p:nvSpPr>
          <p:cNvPr id="12" name="TextBox 11"/>
          <p:cNvSpPr txBox="1"/>
          <p:nvPr/>
        </p:nvSpPr>
        <p:spPr>
          <a:xfrm>
            <a:off x="6858000" y="3108960"/>
            <a:ext cx="3657600" cy="1097280"/>
          </a:xfrm>
          <a:prstGeom prst="rect">
            <a:avLst/>
          </a:prstGeom>
          <a:noFill/>
        </p:spPr>
        <p:txBody>
          <a:bodyPr wrap="none" anchor="t" lIns="0" rIns="0" tIns="0" bIns="0">
            <a:spAutoFit/>
          </a:bodyPr>
          <a:lstStyle/>
          <a:p>
            <a:pPr algn="ctr">
              <a:lnSpc>
                <a:spcPct val="115000"/>
              </a:lnSpc>
            </a:pPr>
            <a:r>
              <a:rPr sz="4400" b="1" i="0">
                <a:solidFill>
                  <a:srgbClr val="55C2CC"/>
                </a:solidFill>
                <a:latin typeface="Consolas"/>
              </a:rPr>
              <a:t>___ Mo</a:t>
            </a:r>
          </a:p>
        </p:txBody>
      </p:sp>
      <p:sp>
        <p:nvSpPr>
          <p:cNvPr id="13" name="TextBox 12"/>
          <p:cNvSpPr txBox="1"/>
          <p:nvPr/>
        </p:nvSpPr>
        <p:spPr>
          <a:xfrm>
            <a:off x="731520" y="5212080"/>
            <a:ext cx="10058400" cy="457200"/>
          </a:xfrm>
          <a:prstGeom prst="rect">
            <a:avLst/>
          </a:prstGeom>
          <a:noFill/>
        </p:spPr>
        <p:txBody>
          <a:bodyPr wrap="square" anchor="t" lIns="0" rIns="0" tIns="0" bIns="0">
            <a:spAutoFit/>
          </a:bodyPr>
          <a:lstStyle/>
          <a:p>
            <a:pPr algn="l">
              <a:lnSpc>
                <a:spcPct val="115000"/>
              </a:lnSpc>
            </a:pPr>
            <a:r>
              <a:rPr sz="1300" b="0" i="1">
                <a:solidFill>
                  <a:srgbClr val="9AA3B2"/>
                </a:solidFill>
                <a:latin typeface="Calibri"/>
              </a:rPr>
              <a:t>Placeholder : a remplacer par une mesure reelle prise sur un fichier de cours avant la demo.</a:t>
            </a:r>
          </a:p>
        </p:txBody>
      </p:sp>
      <p:sp>
        <p:nvSpPr>
          <p:cNvPr id="14" name="TextBox 13"/>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15" name="TextBox 14"/>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9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2377440" cy="365760"/>
          </a:xfrm>
          <a:prstGeom prst="roundRect">
            <a:avLst>
              <a:gd name="adj" fmla="val 50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2377440" cy="365760"/>
          </a:xfrm>
          <a:prstGeom prst="rect">
            <a:avLst/>
          </a:prstGeom>
          <a:noFill/>
        </p:spPr>
        <p:txBody>
          <a:bodyPr wrap="none" anchor="ctr" lIns="0" rIns="0" tIns="0" bIns="0">
            <a:spAutoFit/>
          </a:bodyPr>
          <a:lstStyle/>
          <a:p>
            <a:pPr algn="ctr">
              <a:lnSpc>
                <a:spcPct val="115000"/>
              </a:lnSpc>
            </a:pPr>
            <a:r>
              <a:rPr sz="1200" b="1" i="0">
                <a:solidFill>
                  <a:srgbClr val="1F6F78"/>
                </a:solidFill>
                <a:latin typeface="Consolas"/>
              </a:rPr>
              <a:t>ELEVATOR PITCH - 30 SECONDES</a:t>
            </a:r>
          </a:p>
        </p:txBody>
      </p:sp>
      <p:sp>
        <p:nvSpPr>
          <p:cNvPr id="5" name="TextBox 4"/>
          <p:cNvSpPr txBox="1"/>
          <p:nvPr/>
        </p:nvSpPr>
        <p:spPr>
          <a:xfrm>
            <a:off x="1005840" y="1737360"/>
            <a:ext cx="10149840" cy="4114800"/>
          </a:xfrm>
          <a:prstGeom prst="rect">
            <a:avLst/>
          </a:prstGeom>
          <a:noFill/>
        </p:spPr>
        <p:txBody>
          <a:bodyPr wrap="square" anchor="t" lIns="0" rIns="0" tIns="0" bIns="0">
            <a:spAutoFit/>
          </a:bodyPr>
          <a:lstStyle/>
          <a:p>
            <a:pPr algn="l">
              <a:lnSpc>
                <a:spcPct val="135000"/>
              </a:lnSpc>
            </a:pPr>
            <a:r>
              <a:rPr sz="2200" b="0" i="1">
                <a:solidFill>
                  <a:srgbClr val="1A2233"/>
                </a:solidFill>
                <a:latin typeface="Georgia"/>
              </a:rPr>
              <a:t>« Aujourd'hui, les etudiants utilisent des sites comme iLovePDF ou iLoveIMG pour convertir, compresser ou fusionner leurs fichiers, mais ces services sont limites en version gratuite et obligent a deposer leurs documents sur un serveur externe. Nous avons developpe FileStudent, une boite a outils de bureau gratuite qui reunit conversion, compression, fusion, amelioration d'image et detection de texte genere par IA. Tout se passe en local, sur Linux comme sur Windows, sans jamais faire sortir un seul fichier de l'ordinateur de l'etudiant. »</a:t>
            </a:r>
          </a:p>
        </p:txBody>
      </p:sp>
      <p:sp>
        <p:nvSpPr>
          <p:cNvPr id="6" name="TextBox 5"/>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7" name="TextBox 6"/>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10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058400" cy="1188720"/>
          </a:xfrm>
          <a:prstGeom prst="rect">
            <a:avLst/>
          </a:prstGeom>
          <a:noFill/>
        </p:spPr>
        <p:txBody>
          <a:bodyPr wrap="none" anchor="t" lIns="0" rIns="0" tIns="0" bIns="0">
            <a:spAutoFit/>
          </a:bodyPr>
          <a:lstStyle/>
          <a:p>
            <a:pPr algn="l">
              <a:lnSpc>
                <a:spcPct val="115000"/>
              </a:lnSpc>
            </a:pPr>
            <a:r>
              <a:rPr sz="3800" b="1" i="0">
                <a:solidFill>
                  <a:srgbClr val="FFFFFF"/>
                </a:solidFill>
                <a:latin typeface="Georgia"/>
              </a:rPr>
              <a:t>Essayez FileStudent des vendredi</a:t>
            </a:r>
          </a:p>
        </p:txBody>
      </p:sp>
      <p:sp>
        <p:nvSpPr>
          <p:cNvPr id="4" name="TextBox 3"/>
          <p:cNvSpPr txBox="1"/>
          <p:nvPr/>
        </p:nvSpPr>
        <p:spPr>
          <a:xfrm>
            <a:off x="868680" y="3566160"/>
            <a:ext cx="9601200" cy="502920"/>
          </a:xfrm>
          <a:prstGeom prst="rect">
            <a:avLst/>
          </a:prstGeom>
          <a:noFill/>
        </p:spPr>
        <p:txBody>
          <a:bodyPr wrap="none" anchor="t" lIns="0" rIns="0" tIns="0" bIns="0">
            <a:spAutoFit/>
          </a:bodyPr>
          <a:lstStyle/>
          <a:p>
            <a:pPr algn="l">
              <a:lnSpc>
                <a:spcPct val="115000"/>
              </a:lnSpc>
            </a:pPr>
            <a:r>
              <a:rPr sz="1800" b="0" i="0">
                <a:solidFill>
                  <a:srgbClr val="FFFFFF"/>
                </a:solidFill>
                <a:latin typeface="Calibri"/>
              </a:rPr>
              <a:t>-  Telechargeable gratuitement depuis le site vitrine</a:t>
            </a:r>
          </a:p>
        </p:txBody>
      </p:sp>
      <p:sp>
        <p:nvSpPr>
          <p:cNvPr id="5" name="TextBox 4"/>
          <p:cNvSpPr txBox="1"/>
          <p:nvPr/>
        </p:nvSpPr>
        <p:spPr>
          <a:xfrm>
            <a:off x="868680" y="4114800"/>
            <a:ext cx="9601200" cy="502920"/>
          </a:xfrm>
          <a:prstGeom prst="rect">
            <a:avLst/>
          </a:prstGeom>
          <a:noFill/>
        </p:spPr>
        <p:txBody>
          <a:bodyPr wrap="none" anchor="t" lIns="0" rIns="0" tIns="0" bIns="0">
            <a:spAutoFit/>
          </a:bodyPr>
          <a:lstStyle/>
          <a:p>
            <a:pPr algn="l">
              <a:lnSpc>
                <a:spcPct val="115000"/>
              </a:lnSpc>
            </a:pPr>
            <a:r>
              <a:rPr sz="1800" b="0" i="0">
                <a:solidFill>
                  <a:srgbClr val="FFFFFF"/>
                </a:solidFill>
                <a:latin typeface="Calibri"/>
              </a:rPr>
              <a:t>-  Disponible sur Linux et sur Windows</a:t>
            </a:r>
          </a:p>
        </p:txBody>
      </p:sp>
      <p:sp>
        <p:nvSpPr>
          <p:cNvPr id="6" name="TextBox 5"/>
          <p:cNvSpPr txBox="1"/>
          <p:nvPr/>
        </p:nvSpPr>
        <p:spPr>
          <a:xfrm>
            <a:off x="868680" y="4663440"/>
            <a:ext cx="9601200" cy="502920"/>
          </a:xfrm>
          <a:prstGeom prst="rect">
            <a:avLst/>
          </a:prstGeom>
          <a:noFill/>
        </p:spPr>
        <p:txBody>
          <a:bodyPr wrap="none" anchor="t" lIns="0" rIns="0" tIns="0" bIns="0">
            <a:spAutoFit/>
          </a:bodyPr>
          <a:lstStyle/>
          <a:p>
            <a:pPr algn="l">
              <a:lnSpc>
                <a:spcPct val="115000"/>
              </a:lnSpc>
            </a:pPr>
            <a:r>
              <a:rPr sz="1800" b="0" i="0">
                <a:solidFill>
                  <a:srgbClr val="FFFFFF"/>
                </a:solidFill>
                <a:latin typeface="Calibri"/>
              </a:rPr>
              <a:t>-  Aucun compte, aucun fichier envoye en ligne</a:t>
            </a:r>
          </a:p>
        </p:txBody>
      </p:sp>
      <p:sp>
        <p:nvSpPr>
          <p:cNvPr id="7" name="TextBox 6"/>
          <p:cNvSpPr txBox="1"/>
          <p:nvPr/>
        </p:nvSpPr>
        <p:spPr>
          <a:xfrm>
            <a:off x="868680" y="5577840"/>
            <a:ext cx="8229600" cy="457200"/>
          </a:xfrm>
          <a:prstGeom prst="rect">
            <a:avLst/>
          </a:prstGeom>
          <a:noFill/>
        </p:spPr>
        <p:txBody>
          <a:bodyPr wrap="none" anchor="t" lIns="0" rIns="0" tIns="0" bIns="0">
            <a:spAutoFit/>
          </a:bodyPr>
          <a:lstStyle/>
          <a:p>
            <a:pPr algn="l">
              <a:lnSpc>
                <a:spcPct val="115000"/>
              </a:lnSpc>
            </a:pPr>
            <a:r>
              <a:rPr sz="1300" b="0" i="1">
                <a:solidFill>
                  <a:srgbClr val="DCEBEC"/>
                </a:solidFill>
                <a:latin typeface="Calibri"/>
              </a:rPr>
              <a:t>URL du site a mettre a jour ici avant la soutenance</a:t>
            </a:r>
          </a:p>
        </p:txBody>
      </p:sp>
      <p:sp>
        <p:nvSpPr>
          <p:cNvPr id="8" name="TextBox 7"/>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9" name="TextBox 8"/>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11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058400" cy="1188720"/>
          </a:xfrm>
          <a:prstGeom prst="rect">
            <a:avLst/>
          </a:prstGeom>
          <a:noFill/>
        </p:spPr>
        <p:txBody>
          <a:bodyPr wrap="none" anchor="t" lIns="0" rIns="0" tIns="0" bIns="0">
            <a:spAutoFit/>
          </a:bodyPr>
          <a:lstStyle/>
          <a:p>
            <a:pPr algn="l">
              <a:lnSpc>
                <a:spcPct val="115000"/>
              </a:lnSpc>
            </a:pPr>
            <a:r>
              <a:rPr sz="5400" b="1" i="0">
                <a:solidFill>
                  <a:srgbClr val="FFFFFF"/>
                </a:solidFill>
                <a:latin typeface="Georgia"/>
              </a:rPr>
              <a:t>Merci</a:t>
            </a:r>
          </a:p>
        </p:txBody>
      </p:sp>
      <p:sp>
        <p:nvSpPr>
          <p:cNvPr id="4" name="TextBox 3"/>
          <p:cNvSpPr txBox="1"/>
          <p:nvPr/>
        </p:nvSpPr>
        <p:spPr>
          <a:xfrm>
            <a:off x="868680" y="3566160"/>
            <a:ext cx="9144000" cy="548640"/>
          </a:xfrm>
          <a:prstGeom prst="rect">
            <a:avLst/>
          </a:prstGeom>
          <a:noFill/>
        </p:spPr>
        <p:txBody>
          <a:bodyPr wrap="none" anchor="t" lIns="0" rIns="0" tIns="0" bIns="0">
            <a:spAutoFit/>
          </a:bodyPr>
          <a:lstStyle/>
          <a:p>
            <a:pPr algn="l">
              <a:lnSpc>
                <a:spcPct val="115000"/>
              </a:lnSpc>
            </a:pPr>
            <a:r>
              <a:rPr sz="2200" b="0" i="0">
                <a:solidFill>
                  <a:srgbClr val="C7D6D8"/>
                </a:solidFill>
                <a:latin typeface="Calibri"/>
              </a:rPr>
              <a:t>Des questions ?</a:t>
            </a:r>
          </a:p>
        </p:txBody>
      </p:sp>
      <p:sp>
        <p:nvSpPr>
          <p:cNvPr id="5" name="TextBox 4"/>
          <p:cNvSpPr txBox="1"/>
          <p:nvPr/>
        </p:nvSpPr>
        <p:spPr>
          <a:xfrm>
            <a:off x="868680" y="5989320"/>
            <a:ext cx="9144000" cy="457200"/>
          </a:xfrm>
          <a:prstGeom prst="rect">
            <a:avLst/>
          </a:prstGeom>
          <a:noFill/>
        </p:spPr>
        <p:txBody>
          <a:bodyPr wrap="none" anchor="t" lIns="0" rIns="0" tIns="0" bIns="0">
            <a:spAutoFit/>
          </a:bodyPr>
          <a:lstStyle/>
          <a:p>
            <a:pPr algn="l">
              <a:lnSpc>
                <a:spcPct val="115000"/>
              </a:lnSpc>
            </a:pPr>
            <a:r>
              <a:rPr sz="1300" b="0" i="0">
                <a:solidFill>
                  <a:srgbClr val="8FA3A6"/>
                </a:solidFill>
                <a:latin typeface="Consolas"/>
              </a:rPr>
              <a:t>Equipe Logiciel : Nathan, Julien   -   Equipe Web : etudiants de 1ere annee</a:t>
            </a:r>
          </a:p>
        </p:txBody>
      </p:sp>
      <p:sp>
        <p:nvSpPr>
          <p:cNvPr id="6" name="TextBox 5"/>
          <p:cNvSpPr txBox="1"/>
          <p:nvPr/>
        </p:nvSpPr>
        <p:spPr>
          <a:xfrm>
            <a:off x="731520" y="6355080"/>
            <a:ext cx="5486400" cy="320040"/>
          </a:xfrm>
          <a:prstGeom prst="rect">
            <a:avLst/>
          </a:prstGeom>
          <a:noFill/>
        </p:spPr>
        <p:txBody>
          <a:bodyPr wrap="none" anchor="t" lIns="0" rIns="0" tIns="0" bIns="0">
            <a:spAutoFit/>
          </a:bodyPr>
          <a:lstStyle/>
          <a:p>
            <a:pPr algn="l">
              <a:lnSpc>
                <a:spcPct val="115000"/>
              </a:lnSpc>
            </a:pPr>
            <a:r>
              <a:rPr sz="1100" b="1" i="0">
                <a:solidFill>
                  <a:srgbClr val="566072"/>
                </a:solidFill>
                <a:latin typeface="Consolas"/>
              </a:rPr>
              <a:t>FileStudent</a:t>
            </a:r>
          </a:p>
        </p:txBody>
      </p:sp>
      <p:sp>
        <p:nvSpPr>
          <p:cNvPr id="7" name="TextBox 6"/>
          <p:cNvSpPr txBox="1"/>
          <p:nvPr/>
        </p:nvSpPr>
        <p:spPr>
          <a:xfrm>
            <a:off x="7802575" y="6355080"/>
            <a:ext cx="3657600" cy="320040"/>
          </a:xfrm>
          <a:prstGeom prst="rect">
            <a:avLst/>
          </a:prstGeom>
          <a:noFill/>
        </p:spPr>
        <p:txBody>
          <a:bodyPr wrap="none" anchor="t" lIns="0" rIns="0" tIns="0" bIns="0">
            <a:spAutoFit/>
          </a:bodyPr>
          <a:lstStyle/>
          <a:p>
            <a:pPr algn="r">
              <a:lnSpc>
                <a:spcPct val="115000"/>
              </a:lnSpc>
            </a:pPr>
            <a:r>
              <a:rPr sz="1100" b="0" i="0">
                <a:solidFill>
                  <a:srgbClr val="566072"/>
                </a:solidFill>
                <a:latin typeface="Consolas"/>
              </a:rPr>
              <a:t>12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